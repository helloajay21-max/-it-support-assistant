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 y="1005840"/>
            <a:ext cx="10515600" cy="2926080"/>
          </a:xfrm>
          <a:prstGeom prst="roundRect">
            <a:avLst/>
          </a:prstGeom>
          <a:solidFill>
            <a:srgbClr val="F0F7FF"/>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645920"/>
            <a:ext cx="9601200" cy="914400"/>
          </a:xfrm>
          <a:prstGeom prst="rect">
            <a:avLst/>
          </a:prstGeom>
          <a:noFill/>
        </p:spPr>
        <p:txBody>
          <a:bodyPr wrap="none">
            <a:spAutoFit/>
          </a:bodyPr>
          <a:lstStyle/>
          <a:p>
            <a:pPr algn="ctr"/>
            <a:r>
              <a:rPr sz="2800" b="1">
                <a:solidFill>
                  <a:srgbClr val="0F172A"/>
                </a:solidFill>
                <a:latin typeface="Arial"/>
              </a:rPr>
              <a:t>AI Operations Assistant Using Agentic AI</a:t>
            </a:r>
          </a:p>
        </p:txBody>
      </p:sp>
      <p:sp>
        <p:nvSpPr>
          <p:cNvPr id="5" name="TextBox 4"/>
          <p:cNvSpPr txBox="1"/>
          <p:nvPr/>
        </p:nvSpPr>
        <p:spPr>
          <a:xfrm>
            <a:off x="1188720" y="2606040"/>
            <a:ext cx="9601200" cy="457200"/>
          </a:xfrm>
          <a:prstGeom prst="rect">
            <a:avLst/>
          </a:prstGeom>
          <a:noFill/>
        </p:spPr>
        <p:txBody>
          <a:bodyPr wrap="none">
            <a:spAutoFit/>
          </a:bodyPr>
          <a:lstStyle/>
          <a:p>
            <a:pPr algn="ctr"/>
            <a:r>
              <a:rPr sz="1600">
                <a:solidFill>
                  <a:srgbClr val="475569"/>
                </a:solidFill>
                <a:latin typeface="Arial"/>
              </a:rPr>
              <a:t>Capstone Project Presentation</a:t>
            </a:r>
          </a:p>
        </p:txBody>
      </p:sp>
      <p:sp>
        <p:nvSpPr>
          <p:cNvPr id="6" name="Rectangle 5"/>
          <p:cNvSpPr/>
          <p:nvPr/>
        </p:nvSpPr>
        <p:spPr>
          <a:xfrm>
            <a:off x="1371600" y="4114800"/>
            <a:ext cx="9326880" cy="548640"/>
          </a:xfrm>
          <a:prstGeom prst="rect">
            <a:avLst/>
          </a:prstGeom>
          <a:solidFill>
            <a:srgbClr val="FFFFFF"/>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005EB8"/>
                </a:solidFill>
                <a:latin typeface="Arial"/>
              </a:rPr>
              <a:t>Owner: Ajay Kumar | Email: helloajay21@gmail.com | Batch 1</a:t>
            </a:r>
          </a:p>
        </p:txBody>
      </p:sp>
      <p:sp>
        <p:nvSpPr>
          <p:cNvPr id="7" name="Rounded Rectangle 6"/>
          <p:cNvSpPr/>
          <p:nvPr/>
        </p:nvSpPr>
        <p:spPr>
          <a:xfrm>
            <a:off x="1005840" y="4846320"/>
            <a:ext cx="10149840" cy="914400"/>
          </a:xfrm>
          <a:prstGeom prst="roundRect">
            <a:avLst/>
          </a:prstGeom>
          <a:solidFill>
            <a:srgbClr val="E4EFFF"/>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005EB8"/>
                </a:solidFill>
                <a:latin typeface="Arial"/>
              </a:rPr>
              <a:t>GitHub: https://github.com/helloajay21-max/-it-support-assistant</a:t>
            </a:r>
            <a:br/>
            <a:r>
              <a:rPr sz="1200" b="1">
                <a:solidFill>
                  <a:srgbClr val="005EB8"/>
                </a:solidFill>
                <a:latin typeface="Arial"/>
              </a:rPr>
              <a:t>Azure: https://it-support-ajay-001.azurewebsites.net/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640080"/>
          </a:xfrm>
          <a:prstGeom prst="rect">
            <a:avLst/>
          </a:prstGeom>
          <a:noFill/>
        </p:spPr>
        <p:txBody>
          <a:bodyPr wrap="none">
            <a:spAutoFit/>
          </a:bodyPr>
          <a:lstStyle/>
          <a:p>
            <a:pPr algn="l"/>
            <a:r>
              <a:rPr sz="2400" b="1">
                <a:solidFill>
                  <a:srgbClr val="0F172A"/>
                </a:solidFill>
                <a:latin typeface="Arial"/>
              </a:rPr>
              <a:t>Business Problem &amp; Solution</a:t>
            </a:r>
          </a:p>
        </p:txBody>
      </p:sp>
      <p:sp>
        <p:nvSpPr>
          <p:cNvPr id="3" name="Rectangle 2"/>
          <p:cNvSpPr/>
          <p:nvPr/>
        </p:nvSpPr>
        <p:spPr>
          <a:xfrm>
            <a:off x="548640" y="868680"/>
            <a:ext cx="1920240" cy="73152"/>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4389120"/>
          </a:xfrm>
          <a:prstGeom prst="rect">
            <a:avLst/>
          </a:prstGeom>
          <a:noFill/>
        </p:spPr>
        <p:txBody>
          <a:bodyPr wrap="square">
            <a:spAutoFit/>
          </a:bodyPr>
          <a:lstStyle/>
          <a:p>
            <a:pPr algn="just">
              <a:lnSpc>
                <a:spcPct val="112000"/>
              </a:lnSpc>
              <a:spcAft>
                <a:spcPts val="500"/>
              </a:spcAft>
            </a:pPr>
            <a:r>
              <a:rPr sz="2000">
                <a:solidFill>
                  <a:srgbClr val="0F172A"/>
                </a:solidFill>
                <a:latin typeface="Arial"/>
              </a:rPr>
              <a:t>IT support users often need answers, ticket status, ticket creation, and employee-related actions across multiple workflows. Manual navigation and repeated requests increase effort, delay resolution, and reduce productivity.</a:t>
            </a:r>
          </a:p>
          <a:p>
            <a:pPr algn="just">
              <a:lnSpc>
                <a:spcPct val="112000"/>
              </a:lnSpc>
              <a:spcAft>
                <a:spcPts val="500"/>
              </a:spcAft>
            </a:pPr>
            <a:r>
              <a:rPr sz="2000">
                <a:solidFill>
                  <a:srgbClr val="0F172A"/>
                </a:solidFill>
                <a:latin typeface="Arial"/>
              </a:rPr>
              <a:t>The proposed solution transforms repetitive support activities into an intelligent conversational workflow driven by an agentic AI assistant that understands user intent, maintains conversational state, routes requests to the correct tools, and performs the right operational actions securely.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640080"/>
          </a:xfrm>
          <a:prstGeom prst="rect">
            <a:avLst/>
          </a:prstGeom>
          <a:noFill/>
        </p:spPr>
        <p:txBody>
          <a:bodyPr wrap="none">
            <a:spAutoFit/>
          </a:bodyPr>
          <a:lstStyle/>
          <a:p>
            <a:pPr algn="l"/>
            <a:r>
              <a:rPr sz="2400" b="1">
                <a:solidFill>
                  <a:srgbClr val="0F172A"/>
                </a:solidFill>
                <a:latin typeface="Arial"/>
              </a:rPr>
              <a:t>Agentic AI Solution Architecture</a:t>
            </a:r>
          </a:p>
        </p:txBody>
      </p:sp>
      <p:sp>
        <p:nvSpPr>
          <p:cNvPr id="3" name="Rectangle 2"/>
          <p:cNvSpPr/>
          <p:nvPr/>
        </p:nvSpPr>
        <p:spPr>
          <a:xfrm>
            <a:off x="548640" y="868680"/>
            <a:ext cx="1920240" cy="73152"/>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377440"/>
            <a:ext cx="1463040" cy="822960"/>
          </a:xfrm>
          <a:prstGeom prst="roundRect">
            <a:avLst/>
          </a:prstGeom>
          <a:solidFill>
            <a:srgbClr val="005EB8"/>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Streamlit UI</a:t>
            </a:r>
          </a:p>
        </p:txBody>
      </p:sp>
      <p:sp>
        <p:nvSpPr>
          <p:cNvPr id="5" name="Right Arrow 4"/>
          <p:cNvSpPr/>
          <p:nvPr/>
        </p:nvSpPr>
        <p:spPr>
          <a:xfrm>
            <a:off x="2148840" y="2788920"/>
            <a:ext cx="548640" cy="164592"/>
          </a:xfrm>
          <a:prstGeom prst="rightArrow">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468880" y="2377440"/>
            <a:ext cx="1463040" cy="822960"/>
          </a:xfrm>
          <a:prstGeom prst="roundRect">
            <a:avLst/>
          </a:prstGeom>
          <a:solidFill>
            <a:srgbClr val="005EB8"/>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Intent + State</a:t>
            </a:r>
          </a:p>
        </p:txBody>
      </p:sp>
      <p:sp>
        <p:nvSpPr>
          <p:cNvPr id="7" name="Right Arrow 6"/>
          <p:cNvSpPr/>
          <p:nvPr/>
        </p:nvSpPr>
        <p:spPr>
          <a:xfrm>
            <a:off x="3886200" y="2788920"/>
            <a:ext cx="548640" cy="164592"/>
          </a:xfrm>
          <a:prstGeom prst="rightArrow">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89120" y="2377440"/>
            <a:ext cx="1463040" cy="822960"/>
          </a:xfrm>
          <a:prstGeom prst="roundRect">
            <a:avLst/>
          </a:prstGeom>
          <a:solidFill>
            <a:srgbClr val="005EB8"/>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LangGraph Router</a:t>
            </a:r>
          </a:p>
        </p:txBody>
      </p:sp>
      <p:sp>
        <p:nvSpPr>
          <p:cNvPr id="9" name="Right Arrow 8"/>
          <p:cNvSpPr/>
          <p:nvPr/>
        </p:nvSpPr>
        <p:spPr>
          <a:xfrm>
            <a:off x="5806440" y="2788920"/>
            <a:ext cx="548640" cy="164592"/>
          </a:xfrm>
          <a:prstGeom prst="rightArrow">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9360" y="2377440"/>
            <a:ext cx="1463040" cy="822960"/>
          </a:xfrm>
          <a:prstGeom prst="roundRect">
            <a:avLst/>
          </a:prstGeom>
          <a:solidFill>
            <a:srgbClr val="005EB8"/>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MCP / Tool Layer</a:t>
            </a:r>
          </a:p>
        </p:txBody>
      </p:sp>
      <p:sp>
        <p:nvSpPr>
          <p:cNvPr id="11" name="Right Arrow 10"/>
          <p:cNvSpPr/>
          <p:nvPr/>
        </p:nvSpPr>
        <p:spPr>
          <a:xfrm>
            <a:off x="7726680" y="2788920"/>
            <a:ext cx="548640" cy="164592"/>
          </a:xfrm>
          <a:prstGeom prst="rightArrow">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321040" y="2377440"/>
            <a:ext cx="1463040" cy="822960"/>
          </a:xfrm>
          <a:prstGeom prst="roundRect">
            <a:avLst/>
          </a:prstGeom>
          <a:solidFill>
            <a:srgbClr val="005EB8"/>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Operational Systems</a:t>
            </a:r>
          </a:p>
        </p:txBody>
      </p:sp>
      <p:sp>
        <p:nvSpPr>
          <p:cNvPr id="13" name="TextBox 12"/>
          <p:cNvSpPr txBox="1"/>
          <p:nvPr/>
        </p:nvSpPr>
        <p:spPr>
          <a:xfrm>
            <a:off x="731520" y="3931920"/>
            <a:ext cx="10698480" cy="1920240"/>
          </a:xfrm>
          <a:prstGeom prst="rect">
            <a:avLst/>
          </a:prstGeom>
          <a:noFill/>
        </p:spPr>
        <p:txBody>
          <a:bodyPr wrap="square">
            <a:spAutoFit/>
          </a:bodyPr>
          <a:lstStyle/>
          <a:p>
            <a:pPr algn="just">
              <a:lnSpc>
                <a:spcPct val="112000"/>
              </a:lnSpc>
              <a:spcAft>
                <a:spcPts val="500"/>
              </a:spcAft>
            </a:pPr>
            <a:r>
              <a:rPr sz="1700">
                <a:solidFill>
                  <a:srgbClr val="0F172A"/>
                </a:solidFill>
                <a:latin typeface="Arial"/>
              </a:rPr>
              <a:t>Understand: Natural-language intent and request context</a:t>
            </a:r>
          </a:p>
          <a:p>
            <a:pPr algn="just">
              <a:lnSpc>
                <a:spcPct val="112000"/>
              </a:lnSpc>
              <a:spcAft>
                <a:spcPts val="500"/>
              </a:spcAft>
            </a:pPr>
            <a:r>
              <a:rPr sz="1700">
                <a:solidFill>
                  <a:srgbClr val="0F172A"/>
                </a:solidFill>
                <a:latin typeface="Arial"/>
              </a:rPr>
              <a:t>Orchestrate: LangGraph reasoning, state management, and conditional routing</a:t>
            </a:r>
          </a:p>
          <a:p>
            <a:pPr algn="just">
              <a:lnSpc>
                <a:spcPct val="112000"/>
              </a:lnSpc>
              <a:spcAft>
                <a:spcPts val="500"/>
              </a:spcAft>
            </a:pPr>
            <a:r>
              <a:rPr sz="1700">
                <a:solidFill>
                  <a:srgbClr val="0F172A"/>
                </a:solidFill>
                <a:latin typeface="Arial"/>
              </a:rPr>
              <a:t>Act: Knowledge lookup, ticket operations, employee actions, VPN requests, and email dispatch</a:t>
            </a:r>
          </a:p>
          <a:p>
            <a:pPr algn="just">
              <a:lnSpc>
                <a:spcPct val="112000"/>
              </a:lnSpc>
              <a:spcAft>
                <a:spcPts val="500"/>
              </a:spcAft>
            </a:pPr>
            <a:r>
              <a:rPr sz="1700">
                <a:solidFill>
                  <a:srgbClr val="0F172A"/>
                </a:solidFill>
                <a:latin typeface="Arial"/>
              </a:rPr>
              <a:t>Result: Context-aware responses with workflow execution and secure validation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640080"/>
          </a:xfrm>
          <a:prstGeom prst="rect">
            <a:avLst/>
          </a:prstGeom>
          <a:noFill/>
        </p:spPr>
        <p:txBody>
          <a:bodyPr wrap="none">
            <a:spAutoFit/>
          </a:bodyPr>
          <a:lstStyle/>
          <a:p>
            <a:pPr algn="l"/>
            <a:r>
              <a:rPr sz="2400" b="1">
                <a:solidFill>
                  <a:srgbClr val="0F172A"/>
                </a:solidFill>
                <a:latin typeface="Arial"/>
              </a:rPr>
              <a:t>Technology Stack</a:t>
            </a:r>
          </a:p>
        </p:txBody>
      </p:sp>
      <p:sp>
        <p:nvSpPr>
          <p:cNvPr id="3" name="Rectangle 2"/>
          <p:cNvSpPr/>
          <p:nvPr/>
        </p:nvSpPr>
        <p:spPr>
          <a:xfrm>
            <a:off x="548640" y="868680"/>
            <a:ext cx="1920240" cy="73152"/>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5120640" cy="3749039"/>
          </a:xfrm>
          <a:prstGeom prst="rect">
            <a:avLst/>
          </a:prstGeom>
          <a:noFill/>
        </p:spPr>
        <p:txBody>
          <a:bodyPr wrap="none">
            <a:spAutoFit/>
          </a:bodyPr>
          <a:lstStyle/>
          <a:p>
            <a:pPr algn="l">
              <a:lnSpc>
                <a:spcPct val="110000"/>
              </a:lnSpc>
              <a:spcAft>
                <a:spcPts val="700"/>
              </a:spcAft>
            </a:pPr>
            <a:r>
              <a:rPr sz="1700">
                <a:solidFill>
                  <a:srgbClr val="0F172A"/>
                </a:solidFill>
                <a:latin typeface="Arial"/>
              </a:rPr>
              <a:t>Frontend / Experience: Streamlit</a:t>
            </a:r>
          </a:p>
          <a:p>
            <a:pPr algn="l">
              <a:lnSpc>
                <a:spcPct val="110000"/>
              </a:lnSpc>
              <a:spcAft>
                <a:spcPts val="700"/>
              </a:spcAft>
            </a:pPr>
            <a:r>
              <a:rPr sz="1700">
                <a:solidFill>
                  <a:srgbClr val="0F172A"/>
                </a:solidFill>
                <a:latin typeface="Arial"/>
              </a:rPr>
              <a:t>Agent Orchestration: LangGraph, LangChain</a:t>
            </a:r>
          </a:p>
          <a:p>
            <a:pPr algn="l">
              <a:lnSpc>
                <a:spcPct val="110000"/>
              </a:lnSpc>
              <a:spcAft>
                <a:spcPts val="700"/>
              </a:spcAft>
            </a:pPr>
            <a:r>
              <a:rPr sz="1700">
                <a:solidFill>
                  <a:srgbClr val="0F172A"/>
                </a:solidFill>
                <a:latin typeface="Arial"/>
              </a:rPr>
              <a:t>Tool Integration: MCP / Tool layer</a:t>
            </a:r>
          </a:p>
          <a:p>
            <a:pPr algn="l">
              <a:lnSpc>
                <a:spcPct val="110000"/>
              </a:lnSpc>
              <a:spcAft>
                <a:spcPts val="700"/>
              </a:spcAft>
            </a:pPr>
            <a:r>
              <a:rPr sz="1700">
                <a:solidFill>
                  <a:srgbClr val="0F172A"/>
                </a:solidFill>
                <a:latin typeface="Arial"/>
              </a:rPr>
              <a:t>AI Model Layer: Azure OpenAI</a:t>
            </a:r>
          </a:p>
          <a:p>
            <a:pPr algn="l">
              <a:lnSpc>
                <a:spcPct val="110000"/>
              </a:lnSpc>
              <a:spcAft>
                <a:spcPts val="700"/>
              </a:spcAft>
            </a:pPr>
            <a:r>
              <a:rPr sz="1700">
                <a:solidFill>
                  <a:srgbClr val="0F172A"/>
                </a:solidFill>
                <a:latin typeface="Arial"/>
              </a:rPr>
              <a:t>Application Runtime: Python</a:t>
            </a:r>
          </a:p>
          <a:p>
            <a:pPr algn="l">
              <a:lnSpc>
                <a:spcPct val="110000"/>
              </a:lnSpc>
              <a:spcAft>
                <a:spcPts val="700"/>
              </a:spcAft>
            </a:pPr>
            <a:r>
              <a:rPr sz="1700">
                <a:solidFill>
                  <a:srgbClr val="0F172A"/>
                </a:solidFill>
                <a:latin typeface="Arial"/>
              </a:rPr>
              <a:t>Database: SQLite</a:t>
            </a:r>
          </a:p>
          <a:p>
            <a:pPr algn="l">
              <a:lnSpc>
                <a:spcPct val="110000"/>
              </a:lnSpc>
              <a:spcAft>
                <a:spcPts val="700"/>
              </a:spcAft>
            </a:pPr>
            <a:r>
              <a:rPr sz="1700">
                <a:solidFill>
                  <a:srgbClr val="0F172A"/>
                </a:solidFill>
                <a:latin typeface="Arial"/>
              </a:rPr>
              <a:t>Email &amp; Notifications: SMTP / Email service</a:t>
            </a:r>
          </a:p>
        </p:txBody>
      </p:sp>
      <p:sp>
        <p:nvSpPr>
          <p:cNvPr id="5" name="TextBox 4"/>
          <p:cNvSpPr txBox="1"/>
          <p:nvPr/>
        </p:nvSpPr>
        <p:spPr>
          <a:xfrm>
            <a:off x="6217920" y="1463040"/>
            <a:ext cx="5029200" cy="3749039"/>
          </a:xfrm>
          <a:prstGeom prst="rect">
            <a:avLst/>
          </a:prstGeom>
          <a:noFill/>
        </p:spPr>
        <p:txBody>
          <a:bodyPr wrap="none">
            <a:spAutoFit/>
          </a:bodyPr>
          <a:lstStyle/>
          <a:p>
            <a:pPr algn="l">
              <a:lnSpc>
                <a:spcPct val="110000"/>
              </a:lnSpc>
              <a:spcAft>
                <a:spcPts val="700"/>
              </a:spcAft>
            </a:pPr>
            <a:r>
              <a:rPr sz="1700">
                <a:solidFill>
                  <a:srgbClr val="0F172A"/>
                </a:solidFill>
                <a:latin typeface="Arial"/>
              </a:rPr>
              <a:t>Containerization: Docker</a:t>
            </a:r>
          </a:p>
          <a:p>
            <a:pPr algn="l">
              <a:lnSpc>
                <a:spcPct val="110000"/>
              </a:lnSpc>
              <a:spcAft>
                <a:spcPts val="700"/>
              </a:spcAft>
            </a:pPr>
            <a:r>
              <a:rPr sz="1700">
                <a:solidFill>
                  <a:srgbClr val="0F172A"/>
                </a:solidFill>
                <a:latin typeface="Arial"/>
              </a:rPr>
              <a:t>Cloud Platform: Microsoft Azure</a:t>
            </a:r>
          </a:p>
          <a:p>
            <a:pPr algn="l">
              <a:lnSpc>
                <a:spcPct val="110000"/>
              </a:lnSpc>
              <a:spcAft>
                <a:spcPts val="700"/>
              </a:spcAft>
            </a:pPr>
            <a:r>
              <a:rPr sz="1700">
                <a:solidFill>
                  <a:srgbClr val="0F172A"/>
                </a:solidFill>
                <a:latin typeface="Arial"/>
              </a:rPr>
              <a:t>Azure Services: App Service, Container Apps, Container Registry</a:t>
            </a:r>
          </a:p>
          <a:p>
            <a:pPr algn="l">
              <a:lnSpc>
                <a:spcPct val="110000"/>
              </a:lnSpc>
              <a:spcAft>
                <a:spcPts val="700"/>
              </a:spcAft>
            </a:pPr>
            <a:r>
              <a:rPr sz="1700">
                <a:solidFill>
                  <a:srgbClr val="0F172A"/>
                </a:solidFill>
                <a:latin typeface="Arial"/>
              </a:rPr>
              <a:t>Deployment Automation: GitHub Actions</a:t>
            </a:r>
          </a:p>
          <a:p>
            <a:pPr algn="l">
              <a:lnSpc>
                <a:spcPct val="110000"/>
              </a:lnSpc>
              <a:spcAft>
                <a:spcPts val="700"/>
              </a:spcAft>
            </a:pPr>
            <a:r>
              <a:rPr sz="1700">
                <a:solidFill>
                  <a:srgbClr val="0F172A"/>
                </a:solidFill>
                <a:latin typeface="Arial"/>
              </a:rPr>
              <a:t>Source Control: GitHub</a:t>
            </a:r>
          </a:p>
          <a:p>
            <a:pPr algn="l">
              <a:lnSpc>
                <a:spcPct val="110000"/>
              </a:lnSpc>
              <a:spcAft>
                <a:spcPts val="700"/>
              </a:spcAft>
            </a:pPr>
            <a:r>
              <a:rPr sz="1700">
                <a:solidFill>
                  <a:srgbClr val="0F172A"/>
                </a:solidFill>
                <a:latin typeface="Arial"/>
              </a:rPr>
              <a:t>Production Pattern: CI/CD + environment secrets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640080"/>
          </a:xfrm>
          <a:prstGeom prst="rect">
            <a:avLst/>
          </a:prstGeom>
          <a:noFill/>
        </p:spPr>
        <p:txBody>
          <a:bodyPr wrap="none">
            <a:spAutoFit/>
          </a:bodyPr>
          <a:lstStyle/>
          <a:p>
            <a:pPr algn="l"/>
            <a:r>
              <a:rPr sz="2400" b="1">
                <a:solidFill>
                  <a:srgbClr val="0F172A"/>
                </a:solidFill>
                <a:latin typeface="Arial"/>
              </a:rPr>
              <a:t>Core Features</a:t>
            </a:r>
          </a:p>
        </p:txBody>
      </p:sp>
      <p:sp>
        <p:nvSpPr>
          <p:cNvPr id="3" name="Rectangle 2"/>
          <p:cNvSpPr/>
          <p:nvPr/>
        </p:nvSpPr>
        <p:spPr>
          <a:xfrm>
            <a:off x="548640" y="868680"/>
            <a:ext cx="1920240" cy="73152"/>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5212080" cy="4389120"/>
          </a:xfrm>
          <a:prstGeom prst="rect">
            <a:avLst/>
          </a:prstGeom>
          <a:noFill/>
        </p:spPr>
        <p:txBody>
          <a:bodyPr wrap="square">
            <a:spAutoFit/>
          </a:bodyPr>
          <a:lstStyle/>
          <a:p>
            <a:pPr algn="l">
              <a:spcAft>
                <a:spcPts val="800"/>
              </a:spcAft>
            </a:pPr>
            <a:r>
              <a:rPr sz="1800" b="1">
                <a:solidFill>
                  <a:srgbClr val="005EB8"/>
                </a:solidFill>
                <a:latin typeface="Arial"/>
              </a:rPr>
              <a:t>Operational Functions</a:t>
            </a:r>
          </a:p>
          <a:p>
            <a:pPr algn="just">
              <a:lnSpc>
                <a:spcPct val="110000"/>
              </a:lnSpc>
              <a:spcAft>
                <a:spcPts val="600"/>
              </a:spcAft>
            </a:pPr>
            <a:r>
              <a:rPr sz="1500">
                <a:solidFill>
                  <a:srgbClr val="0F172A"/>
                </a:solidFill>
                <a:latin typeface="Arial"/>
              </a:rPr>
              <a:t>Knowledge search and IT guidance lookup</a:t>
            </a:r>
          </a:p>
          <a:p>
            <a:pPr algn="just">
              <a:lnSpc>
                <a:spcPct val="110000"/>
              </a:lnSpc>
              <a:spcAft>
                <a:spcPts val="600"/>
              </a:spcAft>
            </a:pPr>
            <a:r>
              <a:rPr sz="1500">
                <a:solidFill>
                  <a:srgbClr val="0F172A"/>
                </a:solidFill>
                <a:latin typeface="Arial"/>
              </a:rPr>
              <a:t>Ticket lookup, creation, and status tracking</a:t>
            </a:r>
          </a:p>
          <a:p>
            <a:pPr algn="just">
              <a:lnSpc>
                <a:spcPct val="110000"/>
              </a:lnSpc>
              <a:spcAft>
                <a:spcPts val="600"/>
              </a:spcAft>
            </a:pPr>
            <a:r>
              <a:rPr sz="1500">
                <a:solidFill>
                  <a:srgbClr val="0F172A"/>
                </a:solidFill>
                <a:latin typeface="Arial"/>
              </a:rPr>
              <a:t>Employee registration and database persistence</a:t>
            </a:r>
          </a:p>
          <a:p>
            <a:pPr algn="just">
              <a:lnSpc>
                <a:spcPct val="110000"/>
              </a:lnSpc>
              <a:spcAft>
                <a:spcPts val="600"/>
              </a:spcAft>
            </a:pPr>
            <a:r>
              <a:rPr sz="1500">
                <a:solidFill>
                  <a:srgbClr val="0F172A"/>
                </a:solidFill>
                <a:latin typeface="Arial"/>
              </a:rPr>
              <a:t>VPN first-time setup and password reset workflows</a:t>
            </a:r>
          </a:p>
          <a:p>
            <a:pPr algn="just">
              <a:lnSpc>
                <a:spcPct val="110000"/>
              </a:lnSpc>
              <a:spcAft>
                <a:spcPts val="600"/>
              </a:spcAft>
            </a:pPr>
            <a:r>
              <a:rPr sz="1500">
                <a:solidFill>
                  <a:srgbClr val="0F172A"/>
                </a:solidFill>
                <a:latin typeface="Arial"/>
              </a:rPr>
              <a:t>Email dispatch for password and approval actions</a:t>
            </a:r>
          </a:p>
        </p:txBody>
      </p:sp>
      <p:sp>
        <p:nvSpPr>
          <p:cNvPr id="5" name="TextBox 4"/>
          <p:cNvSpPr txBox="1"/>
          <p:nvPr/>
        </p:nvSpPr>
        <p:spPr>
          <a:xfrm>
            <a:off x="6217920" y="1371600"/>
            <a:ext cx="5120640" cy="4389120"/>
          </a:xfrm>
          <a:prstGeom prst="rect">
            <a:avLst/>
          </a:prstGeom>
          <a:noFill/>
        </p:spPr>
        <p:txBody>
          <a:bodyPr wrap="square">
            <a:spAutoFit/>
          </a:bodyPr>
          <a:lstStyle/>
          <a:p>
            <a:pPr algn="l">
              <a:spcAft>
                <a:spcPts val="800"/>
              </a:spcAft>
            </a:pPr>
            <a:r>
              <a:rPr sz="1800" b="1">
                <a:solidFill>
                  <a:srgbClr val="005EB8"/>
                </a:solidFill>
                <a:latin typeface="Arial"/>
              </a:rPr>
              <a:t>Security and Governance</a:t>
            </a:r>
          </a:p>
          <a:p>
            <a:pPr algn="just">
              <a:lnSpc>
                <a:spcPct val="110000"/>
              </a:lnSpc>
              <a:spcAft>
                <a:spcPts val="600"/>
              </a:spcAft>
            </a:pPr>
            <a:r>
              <a:rPr sz="1500">
                <a:solidFill>
                  <a:srgbClr val="0F172A"/>
                </a:solidFill>
                <a:latin typeface="Arial"/>
              </a:rPr>
              <a:t>Secure login and sign-up with hashed passwords</a:t>
            </a:r>
          </a:p>
          <a:p>
            <a:pPr algn="just">
              <a:lnSpc>
                <a:spcPct val="110000"/>
              </a:lnSpc>
              <a:spcAft>
                <a:spcPts val="600"/>
              </a:spcAft>
            </a:pPr>
            <a:r>
              <a:rPr sz="1500">
                <a:solidFill>
                  <a:srgbClr val="0F172A"/>
                </a:solidFill>
                <a:latin typeface="Arial"/>
              </a:rPr>
              <a:t>Admin-only approval and rejection control</a:t>
            </a:r>
          </a:p>
          <a:p>
            <a:pPr algn="just">
              <a:lnSpc>
                <a:spcPct val="110000"/>
              </a:lnSpc>
              <a:spcAft>
                <a:spcPts val="600"/>
              </a:spcAft>
            </a:pPr>
            <a:r>
              <a:rPr sz="1500">
                <a:solidFill>
                  <a:srgbClr val="0F172A"/>
                </a:solidFill>
                <a:latin typeface="Arial"/>
              </a:rPr>
              <a:t>Protected admin profile and user-level access rules</a:t>
            </a:r>
          </a:p>
          <a:p>
            <a:pPr algn="just">
              <a:lnSpc>
                <a:spcPct val="110000"/>
              </a:lnSpc>
              <a:spcAft>
                <a:spcPts val="600"/>
              </a:spcAft>
            </a:pPr>
            <a:r>
              <a:rPr sz="1500">
                <a:solidFill>
                  <a:srgbClr val="0F172A"/>
                </a:solidFill>
                <a:latin typeface="Arial"/>
              </a:rPr>
              <a:t>Password reset token handling with expiry and validation</a:t>
            </a:r>
          </a:p>
          <a:p>
            <a:pPr algn="just">
              <a:lnSpc>
                <a:spcPct val="110000"/>
              </a:lnSpc>
              <a:spcAft>
                <a:spcPts val="600"/>
              </a:spcAft>
            </a:pPr>
            <a:r>
              <a:rPr sz="1500">
                <a:solidFill>
                  <a:srgbClr val="0F172A"/>
                </a:solidFill>
                <a:latin typeface="Arial"/>
              </a:rPr>
              <a:t>Safe DB initialization and deployment hardening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640080"/>
          </a:xfrm>
          <a:prstGeom prst="rect">
            <a:avLst/>
          </a:prstGeom>
          <a:noFill/>
        </p:spPr>
        <p:txBody>
          <a:bodyPr wrap="none">
            <a:spAutoFit/>
          </a:bodyPr>
          <a:lstStyle/>
          <a:p>
            <a:pPr algn="l"/>
            <a:r>
              <a:rPr sz="2400" b="1">
                <a:solidFill>
                  <a:srgbClr val="0F172A"/>
                </a:solidFill>
                <a:latin typeface="Arial"/>
              </a:rPr>
              <a:t>Deployment &amp; Live URL</a:t>
            </a:r>
          </a:p>
        </p:txBody>
      </p:sp>
      <p:sp>
        <p:nvSpPr>
          <p:cNvPr id="3" name="Rectangle 2"/>
          <p:cNvSpPr/>
          <p:nvPr/>
        </p:nvSpPr>
        <p:spPr>
          <a:xfrm>
            <a:off x="548640" y="868680"/>
            <a:ext cx="1920240" cy="73152"/>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54480"/>
            <a:ext cx="10607040" cy="3840480"/>
          </a:xfrm>
          <a:prstGeom prst="rect">
            <a:avLst/>
          </a:prstGeom>
          <a:noFill/>
        </p:spPr>
        <p:txBody>
          <a:bodyPr wrap="none">
            <a:spAutoFit/>
          </a:bodyPr>
          <a:lstStyle/>
          <a:p>
            <a:pPr algn="l">
              <a:lnSpc>
                <a:spcPct val="110000"/>
              </a:lnSpc>
              <a:spcAft>
                <a:spcPts val="600"/>
              </a:spcAft>
            </a:pPr>
            <a:r>
              <a:rPr sz="1800" b="1">
                <a:solidFill>
                  <a:srgbClr val="005EB8"/>
                </a:solidFill>
                <a:latin typeface="Arial"/>
              </a:rPr>
              <a:t>Live Application URL:</a:t>
            </a:r>
          </a:p>
          <a:p>
            <a:pPr algn="l">
              <a:lnSpc>
                <a:spcPct val="110000"/>
              </a:lnSpc>
              <a:spcAft>
                <a:spcPts val="600"/>
              </a:spcAft>
            </a:pPr>
            <a:r>
              <a:rPr sz="1600">
                <a:solidFill>
                  <a:srgbClr val="0F172A"/>
                </a:solidFill>
                <a:latin typeface="Arial"/>
              </a:rPr>
              <a:t>https://it-support-ajay-001.azurewebsites.net/</a:t>
            </a:r>
          </a:p>
          <a:p>
            <a:pPr algn="l">
              <a:lnSpc>
                <a:spcPct val="110000"/>
              </a:lnSpc>
              <a:spcAft>
                <a:spcPts val="600"/>
              </a:spcAft>
            </a:pPr>
            <a:r>
              <a:rPr sz="1800" b="1">
                <a:solidFill>
                  <a:srgbClr val="005EB8"/>
                </a:solidFill>
                <a:latin typeface="Arial"/>
              </a:rPr>
              <a:t>GitHub Repository:</a:t>
            </a:r>
          </a:p>
          <a:p>
            <a:pPr algn="l">
              <a:lnSpc>
                <a:spcPct val="110000"/>
              </a:lnSpc>
              <a:spcAft>
                <a:spcPts val="600"/>
              </a:spcAft>
            </a:pPr>
            <a:r>
              <a:rPr sz="1600">
                <a:solidFill>
                  <a:srgbClr val="0F172A"/>
                </a:solidFill>
                <a:latin typeface="Arial"/>
              </a:rPr>
              <a:t>https://github.com/helloajay21-max/-it-support-assistant</a:t>
            </a:r>
          </a:p>
          <a:p>
            <a:pPr algn="l">
              <a:lnSpc>
                <a:spcPct val="110000"/>
              </a:lnSpc>
              <a:spcAft>
                <a:spcPts val="600"/>
              </a:spcAft>
            </a:pPr>
            <a:r>
              <a:rPr sz="1800" b="1">
                <a:solidFill>
                  <a:srgbClr val="005EB8"/>
                </a:solidFill>
                <a:latin typeface="Arial"/>
              </a:rPr>
              <a:t>Deployment Model:</a:t>
            </a:r>
          </a:p>
          <a:p>
            <a:pPr algn="just">
              <a:lnSpc>
                <a:spcPct val="110000"/>
              </a:lnSpc>
              <a:spcAft>
                <a:spcPts val="600"/>
              </a:spcAft>
            </a:pPr>
            <a:r>
              <a:rPr sz="1400">
                <a:solidFill>
                  <a:srgbClr val="0F172A"/>
                </a:solidFill>
                <a:latin typeface="Arial"/>
              </a:rPr>
              <a:t>? GitHub push triggers GitHub Actions</a:t>
            </a:r>
          </a:p>
          <a:p>
            <a:pPr algn="just">
              <a:lnSpc>
                <a:spcPct val="110000"/>
              </a:lnSpc>
              <a:spcAft>
                <a:spcPts val="600"/>
              </a:spcAft>
            </a:pPr>
            <a:r>
              <a:rPr sz="1400">
                <a:solidFill>
                  <a:srgbClr val="0F172A"/>
                </a:solidFill>
                <a:latin typeface="Arial"/>
              </a:rPr>
              <a:t>? Docker image is built and uploaded to Docker Hub</a:t>
            </a:r>
          </a:p>
          <a:p>
            <a:pPr algn="just">
              <a:lnSpc>
                <a:spcPct val="110000"/>
              </a:lnSpc>
              <a:spcAft>
                <a:spcPts val="600"/>
              </a:spcAft>
            </a:pPr>
            <a:r>
              <a:rPr sz="1400">
                <a:solidFill>
                  <a:srgbClr val="0F172A"/>
                </a:solidFill>
                <a:latin typeface="Arial"/>
              </a:rPr>
              <a:t>? Azure App Service updates automatically</a:t>
            </a:r>
          </a:p>
          <a:p>
            <a:pPr algn="just">
              <a:lnSpc>
                <a:spcPct val="110000"/>
              </a:lnSpc>
              <a:spcAft>
                <a:spcPts val="600"/>
              </a:spcAft>
            </a:pPr>
            <a:r>
              <a:rPr sz="1400">
                <a:solidFill>
                  <a:srgbClr val="0F172A"/>
                </a:solidFill>
                <a:latin typeface="Arial"/>
              </a:rPr>
              <a:t>? Application restarts after successful deployment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640080"/>
          </a:xfrm>
          <a:prstGeom prst="rect">
            <a:avLst/>
          </a:prstGeom>
          <a:noFill/>
        </p:spPr>
        <p:txBody>
          <a:bodyPr wrap="none">
            <a:spAutoFit/>
          </a:bodyPr>
          <a:lstStyle/>
          <a:p>
            <a:pPr algn="l"/>
            <a:r>
              <a:rPr sz="2400" b="1">
                <a:solidFill>
                  <a:srgbClr val="0F172A"/>
                </a:solidFill>
                <a:latin typeface="Arial"/>
              </a:rPr>
              <a:t>Conclusion</a:t>
            </a:r>
          </a:p>
        </p:txBody>
      </p:sp>
      <p:sp>
        <p:nvSpPr>
          <p:cNvPr id="3" name="Rectangle 2"/>
          <p:cNvSpPr/>
          <p:nvPr/>
        </p:nvSpPr>
        <p:spPr>
          <a:xfrm>
            <a:off x="548640" y="868680"/>
            <a:ext cx="1920240" cy="73152"/>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10698480" cy="3931920"/>
          </a:xfrm>
          <a:prstGeom prst="rect">
            <a:avLst/>
          </a:prstGeom>
          <a:noFill/>
        </p:spPr>
        <p:txBody>
          <a:bodyPr wrap="square">
            <a:spAutoFit/>
          </a:bodyPr>
          <a:lstStyle/>
          <a:p>
            <a:pPr algn="just">
              <a:lnSpc>
                <a:spcPct val="112000"/>
              </a:lnSpc>
              <a:spcAft>
                <a:spcPts val="500"/>
              </a:spcAft>
            </a:pPr>
            <a:r>
              <a:rPr sz="2000">
                <a:solidFill>
                  <a:srgbClr val="0F172A"/>
                </a:solidFill>
                <a:latin typeface="Arial"/>
              </a:rPr>
              <a:t>The AI Operations Assistant delivers a secure, role-based, operationally useful support system with admin approval control, encrypted password storage, direct VPN email actions, and a reliable password reset flow.</a:t>
            </a:r>
          </a:p>
          <a:p>
            <a:pPr algn="just">
              <a:lnSpc>
                <a:spcPct val="112000"/>
              </a:lnSpc>
              <a:spcAft>
                <a:spcPts val="500"/>
              </a:spcAft>
            </a:pPr>
            <a:r>
              <a:rPr sz="2000">
                <a:solidFill>
                  <a:srgbClr val="0F172A"/>
                </a:solidFill>
                <a:latin typeface="Arial"/>
              </a:rPr>
              <a:t>It also improves employee and ticket visibility, strengthens security, and ensures production-ready deployment on Azure using CI/CD automation.</a:t>
            </a:r>
          </a:p>
          <a:p>
            <a:pPr algn="just">
              <a:lnSpc>
                <a:spcPct val="112000"/>
              </a:lnSpc>
              <a:spcAft>
                <a:spcPts val="500"/>
              </a:spcAft>
            </a:pPr>
            <a:r>
              <a:rPr sz="2000">
                <a:solidFill>
                  <a:srgbClr val="0F172A"/>
                </a:solidFill>
                <a:latin typeface="Arial"/>
              </a:rPr>
              <a:t>Overall, the solution is ready for real-world business use and presents a professional, scalable foundation for future enhancements.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