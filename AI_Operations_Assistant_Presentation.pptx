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DF1B02-4486-4F1E-9D50-FED931AB7914}" type="datetimeFigureOut">
              <a:rPr lang="en-IN" smtClean="0"/>
              <a:t>25-08-2026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3F7F0D-65BA-4019-95DB-327A864789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9334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3F7F0D-65BA-4019-95DB-327A864789D0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2827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t-support-ajay-001.azurewebsites.net/" TargetMode="External"/><Relationship Id="rId2" Type="http://schemas.openxmlformats.org/officeDocument/2006/relationships/hyperlink" Target="https://github.com/helloajay21-max/-it-support-assistant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it-support-ajay-001.azurewebsites.net/" TargetMode="External"/><Relationship Id="rId2" Type="http://schemas.openxmlformats.org/officeDocument/2006/relationships/hyperlink" Target="https://github.com/helloajay21-max/-it-support-assistan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78992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Aptos Display"/>
              </a:defRPr>
            </a:pPr>
            <a:r>
              <a:t>IT Support Assistant</a:t>
            </a:r>
          </a:p>
          <a:p>
            <a:pPr>
              <a:defRPr sz="2100">
                <a:solidFill>
                  <a:srgbClr val="CDE0F4"/>
                </a:solidFill>
                <a:latin typeface="Aptos"/>
              </a:defRPr>
            </a:pPr>
            <a:r>
              <a:t>Agentic AI-powered IT Operations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5120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ptos Display"/>
              </a:defRPr>
            </a:pPr>
            <a:r>
              <a:t>Ajay Kumar</a:t>
            </a:r>
          </a:p>
          <a:p>
            <a:pPr>
              <a:defRPr sz="1400">
                <a:solidFill>
                  <a:srgbClr val="CDE0F4"/>
                </a:solidFill>
                <a:latin typeface="Aptos"/>
              </a:defRPr>
            </a:pPr>
            <a:r>
              <a:t>helloajay21@gmail.com</a:t>
            </a:r>
          </a:p>
        </p:txBody>
      </p:sp>
      <p:sp>
        <p:nvSpPr>
          <p:cNvPr id="6" name="Rounded Rectangle 5">
            <a:hlinkClick r:id="rId2"/>
          </p:cNvPr>
          <p:cNvSpPr/>
          <p:nvPr/>
        </p:nvSpPr>
        <p:spPr>
          <a:xfrm>
            <a:off x="731520" y="3657600"/>
            <a:ext cx="5120640" cy="658368"/>
          </a:xfrm>
          <a:prstGeom prst="roundRect">
            <a:avLst/>
          </a:prstGeom>
          <a:solidFill>
            <a:srgbClr val="193555"/>
          </a:solidFill>
          <a:ln w="17780"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rPr sz="1600"/>
              <a:t>GitHub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rPr sz="1600"/>
              <a:t>helloajay21-max / -it-support-assistant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309360" y="3657600"/>
            <a:ext cx="5120640" cy="658368"/>
          </a:xfrm>
          <a:prstGeom prst="roundRect">
            <a:avLst/>
          </a:prstGeom>
          <a:solidFill>
            <a:srgbClr val="193555"/>
          </a:solidFill>
          <a:ln w="17780"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rPr sz="1600"/>
              <a:t>Live Azure Application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rPr sz="1600"/>
              <a:t>it-support-ajay-001.azurewebsites.net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>
                <a:solidFill>
                  <a:srgbClr val="BED2E8"/>
                </a:solidFill>
                <a:latin typeface="Aptos"/>
              </a:defRPr>
            </a:pPr>
            <a:r>
              <a:t>LangGraph • LangChain • MCP • Streamlit • Azure OpenAI • Docker • ACR • Azure Container Apps • GitHub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29804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BECCDC"/>
                </a:solidFill>
                <a:latin typeface="Aptos"/>
              </a:defRPr>
            </a:pPr>
            <a:r>
              <a:rPr sz="1400"/>
              <a:t>IT Support Assistant • Ajay Kumar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6799875" cy="6924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rPr dirty="0"/>
              <a:t>Business Problem &amp; Solution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rPr sz="1400" dirty="0"/>
              <a:t>Transforming repetitive IT support activities into an intelligent conversational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64008" cy="2011680"/>
          </a:xfrm>
          <a:prstGeom prst="rect">
            <a:avLst/>
          </a:prstGeom>
          <a:solidFill>
            <a:srgbClr val="C7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353312"/>
            <a:ext cx="49651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D203A"/>
                </a:solidFill>
                <a:latin typeface="Aptos Display"/>
              </a:defRPr>
            </a:pPr>
            <a:r>
              <a:t>Business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4965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>
                <a:solidFill>
                  <a:srgbClr val="2B3644"/>
                </a:solidFill>
                <a:latin typeface="Aptos"/>
              </a:defRPr>
            </a:pPr>
            <a:r>
              <a:rPr sz="1400" dirty="0"/>
              <a:t>IT support users need answers, ticket status, ticket creation and employee-related actions across different workflows. Manual navigation increases effort and resolution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64008" cy="201168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49651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D203A"/>
                </a:solidFill>
                <a:latin typeface="Aptos Display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4965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00">
                <a:solidFill>
                  <a:srgbClr val="2B3644"/>
                </a:solidFill>
                <a:latin typeface="Aptos"/>
              </a:defRPr>
            </a:pPr>
            <a:r>
              <a:rPr sz="1400" dirty="0"/>
              <a:t>An agentic assistant understands intent, maintains state, routes to the right capability, invokes tools through the integration layer and returns a context-aware response.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64008" cy="141732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3913632"/>
            <a:ext cx="31363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D203A"/>
                </a:solidFill>
                <a:latin typeface="Aptos Display"/>
              </a:defRPr>
            </a:pPr>
            <a:r>
              <a:t>Understand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297680"/>
            <a:ext cx="31363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19">
                <a:solidFill>
                  <a:srgbClr val="2B3644"/>
                </a:solidFill>
                <a:latin typeface="Aptos"/>
              </a:defRPr>
            </a:pPr>
            <a:r>
              <a:rPr sz="1400" dirty="0"/>
              <a:t>Natural-language intent and request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9476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89120" y="3794760"/>
            <a:ext cx="64008" cy="1417320"/>
          </a:xfrm>
          <a:prstGeom prst="rect">
            <a:avLst/>
          </a:prstGeom>
          <a:solidFill>
            <a:srgbClr val="008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0" y="3913632"/>
            <a:ext cx="31363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D203A"/>
                </a:solidFill>
                <a:latin typeface="Aptos Display"/>
              </a:defRPr>
            </a:pPr>
            <a:r>
              <a:t>Orchestrate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297680"/>
            <a:ext cx="31363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19">
                <a:solidFill>
                  <a:srgbClr val="2B3644"/>
                </a:solidFill>
                <a:latin typeface="Aptos"/>
              </a:defRPr>
            </a:pPr>
            <a:r>
              <a:rPr sz="1400" dirty="0" err="1"/>
              <a:t>LangGraph</a:t>
            </a:r>
            <a:r>
              <a:rPr sz="1400" dirty="0"/>
              <a:t> state + conditional routing +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9476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8160" y="3794760"/>
            <a:ext cx="64008" cy="1417320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3913632"/>
            <a:ext cx="31363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D203A"/>
                </a:solidFill>
                <a:latin typeface="Aptos Display"/>
              </a:defRPr>
            </a:pPr>
            <a: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97680"/>
            <a:ext cx="31363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19">
                <a:solidFill>
                  <a:srgbClr val="2B3644"/>
                </a:solidFill>
                <a:latin typeface="Aptos"/>
              </a:defRPr>
            </a:pPr>
            <a:r>
              <a:rPr sz="1400" dirty="0"/>
              <a:t>Knowledge, ticket and employee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29804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77484"/>
                </a:solidFill>
                <a:latin typeface="Aptos"/>
              </a:defRPr>
            </a:pPr>
            <a:r>
              <a:rPr sz="1400"/>
              <a:t>IT Support Assistant • Ajay Kumar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t>Agentic AI Solution Architecture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t>LangGraph orchestration with MCP-enabled tools, enterprise data and Azure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331720"/>
            <a:ext cx="1554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Streamlit UI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Chat • history • activity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2331720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Intent + State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Understand + AgentState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331720"/>
            <a:ext cx="16916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LangGraph Router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Conditional routing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868680"/>
            <a:ext cx="19659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Knowledge Search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IT knowledge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83080"/>
            <a:ext cx="19659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Ticket Operations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Lookup • create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697480"/>
            <a:ext cx="19659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Employee Operations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Register • ID •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3589019"/>
            <a:ext cx="19659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VPN Operations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First-time • reset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34840"/>
            <a:ext cx="19659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C7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Email Service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Send password email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560320"/>
            <a:ext cx="187451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Response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Answer + 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74519" y="2743200"/>
            <a:ext cx="457201" cy="0"/>
          </a:xfrm>
          <a:prstGeom prst="line">
            <a:avLst/>
          </a:prstGeom>
          <a:ln w="22860">
            <a:solidFill>
              <a:srgbClr val="009D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931920" y="2743200"/>
            <a:ext cx="548640" cy="0"/>
          </a:xfrm>
          <a:prstGeom prst="line">
            <a:avLst/>
          </a:prstGeom>
          <a:ln w="22860">
            <a:solidFill>
              <a:srgbClr val="1F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172200" y="1211580"/>
            <a:ext cx="640080" cy="153162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172200" y="2125980"/>
            <a:ext cx="640080" cy="61722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72200" y="2743200"/>
            <a:ext cx="640080" cy="29718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72200" y="2743200"/>
            <a:ext cx="640080" cy="121158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72200" y="2743200"/>
            <a:ext cx="640080" cy="212598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2990088"/>
            <a:ext cx="777240" cy="0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94360" y="5212080"/>
            <a:ext cx="20574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Knowledge Data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KB / 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80" y="5212080"/>
            <a:ext cx="20574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Ticket Data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5212080"/>
            <a:ext cx="20574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Employee Data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5212080"/>
            <a:ext cx="20574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Azure Services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OpenAI • Container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t>Intelligent Ticket Creation &amp; Employee Resolution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t>Real-time employee creation and database persistence during ticket submission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1325880"/>
            <a:ext cx="502920" cy="502920"/>
          </a:xfrm>
          <a:prstGeom prst="roundRect">
            <a:avLst/>
          </a:prstGeom>
          <a:solidFill>
            <a:srgbClr val="1F69BE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" y="1225296"/>
            <a:ext cx="1298448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9536" y="1225296"/>
            <a:ext cx="64008" cy="164592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5" y="1344168"/>
            <a:ext cx="10058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 b="1">
                <a:solidFill>
                  <a:srgbClr val="0D203A"/>
                </a:solidFill>
                <a:latin typeface="Aptos Display"/>
              </a:defRPr>
            </a:pPr>
            <a:r>
              <a:t>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1728216"/>
            <a:ext cx="100583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2B3644"/>
                </a:solidFill>
                <a:latin typeface="Aptos"/>
              </a:defRPr>
            </a:pPr>
            <a:r>
              <a:t>User asks to raise a ticket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67127" y="2057400"/>
            <a:ext cx="64009" cy="0"/>
          </a:xfrm>
          <a:prstGeom prst="line">
            <a:avLst/>
          </a:prstGeom>
          <a:ln w="22860">
            <a:solidFill>
              <a:srgbClr val="1F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31136" y="1325880"/>
            <a:ext cx="502920" cy="502920"/>
          </a:xfrm>
          <a:prstGeom prst="roundRect">
            <a:avLst/>
          </a:prstGeom>
          <a:solidFill>
            <a:srgbClr val="00897D"/>
          </a:solidFill>
          <a:ln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98064" y="1225296"/>
            <a:ext cx="1298448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98064" y="1225296"/>
            <a:ext cx="64008" cy="1645920"/>
          </a:xfrm>
          <a:prstGeom prst="rect">
            <a:avLst/>
          </a:prstGeom>
          <a:solidFill>
            <a:srgbClr val="008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4" y="1344168"/>
            <a:ext cx="10058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 b="1">
                <a:solidFill>
                  <a:srgbClr val="0D203A"/>
                </a:solidFill>
                <a:latin typeface="Aptos Display"/>
              </a:defRPr>
            </a:pPr>
            <a:r>
              <a:t>Identify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1728216"/>
            <a:ext cx="100583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2B3644"/>
                </a:solidFill>
                <a:latin typeface="Aptos"/>
              </a:defRPr>
            </a:pPr>
            <a:r>
              <a:t>Capture / validate employee identity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05656" y="2057400"/>
            <a:ext cx="64008" cy="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69664" y="1325880"/>
            <a:ext cx="502920" cy="502920"/>
          </a:xfrm>
          <a:prstGeom prst="roundRect">
            <a:avLst/>
          </a:prstGeom>
          <a:solidFill>
            <a:srgbClr val="E2822D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6592" y="1225296"/>
            <a:ext cx="1298448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36592" y="1225296"/>
            <a:ext cx="64008" cy="1645920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9472" y="1344168"/>
            <a:ext cx="10058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 b="1">
                <a:solidFill>
                  <a:srgbClr val="0D203A"/>
                </a:solidFill>
                <a:latin typeface="Aptos Display"/>
              </a:defRPr>
            </a:pPr>
            <a:r>
              <a:t>Check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1728216"/>
            <a:ext cx="100583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2B3644"/>
                </a:solidFill>
                <a:latin typeface="Aptos"/>
              </a:defRPr>
            </a:pPr>
            <a:r>
              <a:t>Employee exists?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44184" y="2057400"/>
            <a:ext cx="64008" cy="0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08192" y="1325880"/>
            <a:ext cx="502920" cy="502920"/>
          </a:xfrm>
          <a:prstGeom prst="roundRect">
            <a:avLst/>
          </a:prstGeom>
          <a:solidFill>
            <a:srgbClr val="2A975B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225296"/>
            <a:ext cx="1298448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75120" y="1225296"/>
            <a:ext cx="64008" cy="164592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1344168"/>
            <a:ext cx="10058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 b="1">
                <a:solidFill>
                  <a:srgbClr val="0D203A"/>
                </a:solidFill>
                <a:latin typeface="Aptos Display"/>
              </a:defRPr>
            </a:pPr>
            <a:r>
              <a:t>Create if missing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1728216"/>
            <a:ext cx="100583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2B3644"/>
                </a:solidFill>
                <a:latin typeface="Aptos"/>
              </a:defRPr>
            </a:pPr>
            <a:r>
              <a:t>Create employee + generate EMP####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82712" y="2057400"/>
            <a:ext cx="64008" cy="0"/>
          </a:xfrm>
          <a:prstGeom prst="line">
            <a:avLst/>
          </a:prstGeom>
          <a:ln w="22860">
            <a:solidFill>
              <a:srgbClr val="2A9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046720" y="1325880"/>
            <a:ext cx="502920" cy="502920"/>
          </a:xfrm>
          <a:prstGeom prst="roundRect">
            <a:avLst/>
          </a:prstGeom>
          <a:solidFill>
            <a:srgbClr val="009DBE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3648" y="1225296"/>
            <a:ext cx="1298448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613648" y="1225296"/>
            <a:ext cx="64008" cy="1645920"/>
          </a:xfrm>
          <a:prstGeom prst="rect">
            <a:avLst/>
          </a:prstGeom>
          <a:solidFill>
            <a:srgbClr val="009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96528" y="1344168"/>
            <a:ext cx="10058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 b="1">
                <a:solidFill>
                  <a:srgbClr val="0D203A"/>
                </a:solidFill>
                <a:latin typeface="Aptos Display"/>
              </a:defRPr>
            </a:pPr>
            <a:r>
              <a:t>Persist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6528" y="1728216"/>
            <a:ext cx="100583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2B3644"/>
                </a:solidFill>
                <a:latin typeface="Aptos"/>
              </a:defRPr>
            </a:pPr>
            <a:r>
              <a:t>Store employee in DB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2057400"/>
            <a:ext cx="64008" cy="0"/>
          </a:xfrm>
          <a:prstGeom prst="line">
            <a:avLst/>
          </a:prstGeom>
          <a:ln w="22860">
            <a:solidFill>
              <a:srgbClr val="009D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985248" y="1325880"/>
            <a:ext cx="502920" cy="502920"/>
          </a:xfrm>
          <a:prstGeom prst="roundRect">
            <a:avLst/>
          </a:prstGeom>
          <a:solidFill>
            <a:srgbClr val="1F69BE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52176" y="1225296"/>
            <a:ext cx="1298448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52176" y="1225296"/>
            <a:ext cx="64008" cy="164592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35056" y="1344168"/>
            <a:ext cx="100583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 b="1">
                <a:solidFill>
                  <a:srgbClr val="0D203A"/>
                </a:solidFill>
                <a:latin typeface="Aptos Display"/>
              </a:defRPr>
            </a:pPr>
            <a:r>
              <a:t>Ticket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35056" y="1728216"/>
            <a:ext cx="100583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2B3644"/>
                </a:solidFill>
                <a:latin typeface="Aptos"/>
              </a:defRPr>
            </a:pPr>
            <a:r>
              <a:t>Create + link ticket to employee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3703320"/>
            <a:ext cx="33375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77240" y="3703320"/>
            <a:ext cx="64008" cy="109728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0120" y="3822191"/>
            <a:ext cx="3044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D203A"/>
                </a:solidFill>
                <a:latin typeface="Aptos Display"/>
              </a:defRPr>
            </a:pPr>
            <a:r>
              <a:t>Real-time employee creation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06240"/>
            <a:ext cx="3044952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2B3644"/>
                </a:solidFill>
                <a:latin typeface="Aptos"/>
              </a:defRPr>
            </a:pPr>
            <a:r>
              <a:t>If the employee does not exist, the system creates the employee record during ticket creation.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34840" y="3703320"/>
            <a:ext cx="33375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434840" y="3703320"/>
            <a:ext cx="64008" cy="109728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617720" y="3822191"/>
            <a:ext cx="3044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D203A"/>
                </a:solidFill>
                <a:latin typeface="Aptos Display"/>
              </a:defRPr>
            </a:pPr>
            <a:r>
              <a:t>Database persistence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4206240"/>
            <a:ext cx="3044952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2B3644"/>
                </a:solidFill>
                <a:latin typeface="Aptos"/>
              </a:defRPr>
            </a:pPr>
            <a:r>
              <a:t>The new employee is stored in the operational database for future requests and ticket history.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92440" y="3703320"/>
            <a:ext cx="33375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092440" y="3703320"/>
            <a:ext cx="64008" cy="1097280"/>
          </a:xfrm>
          <a:prstGeom prst="rect">
            <a:avLst/>
          </a:prstGeom>
          <a:solidFill>
            <a:srgbClr val="008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275319" y="3822191"/>
            <a:ext cx="3044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D203A"/>
                </a:solidFill>
                <a:latin typeface="Aptos Display"/>
              </a:defRPr>
            </a:pPr>
            <a:r>
              <a:t>Ticket relationship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19" y="4206240"/>
            <a:ext cx="3044952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2B3644"/>
                </a:solidFill>
                <a:latin typeface="Aptos"/>
              </a:defRPr>
            </a:pPr>
            <a:r>
              <a:t>The ticket is linked to the resolved employee record.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5257800"/>
            <a:ext cx="8503920" cy="594360"/>
          </a:xfrm>
          <a:prstGeom prst="roundRect">
            <a:avLst/>
          </a:prstGeom>
          <a:solidFill>
            <a:srgbClr val="F0F8FC"/>
          </a:solidFill>
          <a:ln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D203A"/>
                </a:solidFill>
                <a:latin typeface="Aptos Display"/>
              </a:defRPr>
            </a:pPr>
            <a:r>
              <a:t>Result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Employee resolved → DB updated → ticket created → relationship persisted → response returned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t>Employee Lifecycle &amp; Identity Management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t>Registration, unique identification, database persistence and lifecycle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02920" cy="502920"/>
          </a:xfrm>
          <a:prstGeom prst="roundRect">
            <a:avLst/>
          </a:prstGeom>
          <a:solidFill>
            <a:srgbClr val="1F69BE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216152"/>
            <a:ext cx="17373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7280" y="1216152"/>
            <a:ext cx="64008" cy="141732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1335024"/>
            <a:ext cx="1444751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1">
                <a:solidFill>
                  <a:srgbClr val="0D203A"/>
                </a:solidFill>
                <a:latin typeface="Aptos Display"/>
              </a:defRPr>
            </a:pPr>
            <a:r>
              <a:t>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719072"/>
            <a:ext cx="144475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2B3644"/>
                </a:solidFill>
                <a:latin typeface="Aptos"/>
              </a:defRPr>
            </a:pPr>
            <a:r>
              <a:t>Name • email • department • role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34639" y="1892808"/>
            <a:ext cx="137161" cy="0"/>
          </a:xfrm>
          <a:prstGeom prst="line">
            <a:avLst/>
          </a:prstGeom>
          <a:ln w="22860">
            <a:solidFill>
              <a:srgbClr val="1F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1234440"/>
            <a:ext cx="502920" cy="502920"/>
          </a:xfrm>
          <a:prstGeom prst="roundRect">
            <a:avLst/>
          </a:prstGeom>
          <a:solidFill>
            <a:srgbClr val="00897D"/>
          </a:solidFill>
          <a:ln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216152"/>
            <a:ext cx="17373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1216152"/>
            <a:ext cx="64008" cy="1417320"/>
          </a:xfrm>
          <a:prstGeom prst="rect">
            <a:avLst/>
          </a:prstGeom>
          <a:solidFill>
            <a:srgbClr val="008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39" y="1335024"/>
            <a:ext cx="1444751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1">
                <a:solidFill>
                  <a:srgbClr val="0D203A"/>
                </a:solidFill>
                <a:latin typeface="Aptos Display"/>
              </a:defRPr>
            </a:pPr>
            <a: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719072"/>
            <a:ext cx="144475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2B3644"/>
                </a:solidFill>
                <a:latin typeface="Aptos"/>
              </a:defRPr>
            </a:pPr>
            <a:r>
              <a:t>Required fields + unique email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03520" y="1892808"/>
            <a:ext cx="137160" cy="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1234440"/>
            <a:ext cx="502920" cy="502920"/>
          </a:xfrm>
          <a:prstGeom prst="roundRect">
            <a:avLst/>
          </a:prstGeom>
          <a:solidFill>
            <a:srgbClr val="2A975B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216152"/>
            <a:ext cx="17373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40" y="1216152"/>
            <a:ext cx="64008" cy="141732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1335024"/>
            <a:ext cx="1444751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1">
                <a:solidFill>
                  <a:srgbClr val="0D203A"/>
                </a:solidFill>
                <a:latin typeface="Aptos Display"/>
              </a:defRPr>
            </a:pPr>
            <a:r>
              <a:t>Generate 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719072"/>
            <a:ext cx="144475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2B3644"/>
                </a:solidFill>
                <a:latin typeface="Aptos"/>
              </a:defRPr>
            </a:pPr>
            <a:r>
              <a:t>Sequential EMP####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0" y="1892808"/>
            <a:ext cx="137160" cy="0"/>
          </a:xfrm>
          <a:prstGeom prst="line">
            <a:avLst/>
          </a:prstGeom>
          <a:ln w="22860">
            <a:solidFill>
              <a:srgbClr val="2A9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909560" y="1234440"/>
            <a:ext cx="502920" cy="502920"/>
          </a:xfrm>
          <a:prstGeom prst="roundRect">
            <a:avLst/>
          </a:prstGeom>
          <a:solidFill>
            <a:srgbClr val="009DBE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216152"/>
            <a:ext cx="17373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503920" y="1216152"/>
            <a:ext cx="64008" cy="1417320"/>
          </a:xfrm>
          <a:prstGeom prst="rect">
            <a:avLst/>
          </a:prstGeom>
          <a:solidFill>
            <a:srgbClr val="009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0" y="1335024"/>
            <a:ext cx="1444751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1">
                <a:solidFill>
                  <a:srgbClr val="0D203A"/>
                </a:solidFill>
                <a:latin typeface="Aptos Display"/>
              </a:defRPr>
            </a:pPr>
            <a:r>
              <a:t>Store in 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1719072"/>
            <a:ext cx="144475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2B3644"/>
                </a:solidFill>
                <a:latin typeface="Aptos"/>
              </a:defRPr>
            </a:pPr>
            <a:r>
              <a:t>Persist employee record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2651760"/>
            <a:ext cx="0" cy="566928"/>
          </a:xfrm>
          <a:prstGeom prst="line">
            <a:avLst/>
          </a:prstGeom>
          <a:ln w="22860">
            <a:solidFill>
              <a:srgbClr val="009D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971800" y="3246120"/>
            <a:ext cx="502920" cy="502920"/>
          </a:xfrm>
          <a:prstGeom prst="roundRect">
            <a:avLst/>
          </a:prstGeom>
          <a:solidFill>
            <a:srgbClr val="E2822D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3227832"/>
            <a:ext cx="17373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566160" y="3227832"/>
            <a:ext cx="64008" cy="1417320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9039" y="3346703"/>
            <a:ext cx="1444751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1">
                <a:solidFill>
                  <a:srgbClr val="0D203A"/>
                </a:solidFill>
                <a:latin typeface="Aptos Display"/>
              </a:defRPr>
            </a:pPr>
            <a:r>
              <a:t>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3730752"/>
            <a:ext cx="144475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2B3644"/>
                </a:solidFill>
                <a:latin typeface="Aptos"/>
              </a:defRPr>
            </a:pPr>
            <a:r>
              <a:t>Use ID in ticket workflows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892040"/>
            <a:ext cx="34290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85800" y="4892040"/>
            <a:ext cx="64008" cy="868680"/>
          </a:xfrm>
          <a:prstGeom prst="rect">
            <a:avLst/>
          </a:prstGeom>
          <a:solidFill>
            <a:srgbClr val="C7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010912"/>
            <a:ext cx="31363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Soft Deactivation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394959"/>
            <a:ext cx="31363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40">
                <a:solidFill>
                  <a:srgbClr val="2B3644"/>
                </a:solidFill>
                <a:latin typeface="Aptos"/>
              </a:defRPr>
            </a:pPr>
            <a:r>
              <a:t>Mark employee Inactive and preserve history.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4892040"/>
            <a:ext cx="34290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389120" y="4892040"/>
            <a:ext cx="64008" cy="868680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0" y="5010912"/>
            <a:ext cx="31363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Hard Deletion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31363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40">
                <a:solidFill>
                  <a:srgbClr val="2B3644"/>
                </a:solidFill>
                <a:latin typeface="Aptos"/>
              </a:defRPr>
            </a:pPr>
            <a:r>
              <a:t>Remove employee and associated records.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4892040"/>
            <a:ext cx="34290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92440" y="4892040"/>
            <a:ext cx="64008" cy="86868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19" y="5010912"/>
            <a:ext cx="31363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Lifecycle in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19" y="5394959"/>
            <a:ext cx="3136392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40">
                <a:solidFill>
                  <a:srgbClr val="2B3644"/>
                </a:solidFill>
                <a:latin typeface="Aptos"/>
              </a:defRPr>
            </a:pPr>
            <a:r>
              <a:t>Employee state remains available for future support workflows.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t>MCP &amp; Tool Integration Layer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t>Separating agent reasoning from operational capabilities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LangGraph Agent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Intent • state • routing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417320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MCP / Tool Layer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Capability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777240"/>
            <a:ext cx="2057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Knowledge Tool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Search IT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2057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Ticket Tools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Lookup • 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606040"/>
            <a:ext cx="2057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Employee Tools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Register •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520440"/>
            <a:ext cx="2057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VPN Tools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First-time • reset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20574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C7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Email Tool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Send password email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286000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D203A"/>
                </a:solidFill>
                <a:latin typeface="Aptos Display"/>
              </a:defRPr>
            </a:pPr>
            <a:r>
              <a:t>Systems / Data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t>DB • KB • email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80" y="1874519"/>
            <a:ext cx="868680" cy="0"/>
          </a:xfrm>
          <a:prstGeom prst="line">
            <a:avLst/>
          </a:prstGeom>
          <a:ln w="22860">
            <a:solidFill>
              <a:srgbClr val="1F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394960" y="1133856"/>
            <a:ext cx="777240" cy="740663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94960" y="1874519"/>
            <a:ext cx="777240" cy="173737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0" y="1874519"/>
            <a:ext cx="777240" cy="1088137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0" y="1874519"/>
            <a:ext cx="777240" cy="2002537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94960" y="1874519"/>
            <a:ext cx="777240" cy="2916937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8229600" y="1252728"/>
            <a:ext cx="914400" cy="1490472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cxnSpLocks/>
          </p:cNvCxnSpPr>
          <p:nvPr/>
        </p:nvCxnSpPr>
        <p:spPr>
          <a:xfrm>
            <a:off x="8229600" y="2258568"/>
            <a:ext cx="914400" cy="484632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cxnSpLocks/>
          </p:cNvCxnSpPr>
          <p:nvPr/>
        </p:nvCxnSpPr>
        <p:spPr>
          <a:xfrm flipV="1">
            <a:off x="8229600" y="2743200"/>
            <a:ext cx="914400" cy="420624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cxnSpLocks/>
            <a:stCxn id="9" idx="3"/>
          </p:cNvCxnSpPr>
          <p:nvPr/>
        </p:nvCxnSpPr>
        <p:spPr>
          <a:xfrm flipV="1">
            <a:off x="8229600" y="2743200"/>
            <a:ext cx="914400" cy="1133856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cxnSpLocks/>
          </p:cNvCxnSpPr>
          <p:nvPr/>
        </p:nvCxnSpPr>
        <p:spPr>
          <a:xfrm flipV="1">
            <a:off x="8229600" y="2743200"/>
            <a:ext cx="914400" cy="2153412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4360" y="5486400"/>
            <a:ext cx="33375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5486400"/>
            <a:ext cx="64008" cy="658368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605272"/>
            <a:ext cx="3044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D203A"/>
                </a:solidFill>
                <a:latin typeface="Aptos Display"/>
              </a:defRPr>
            </a:pPr>
            <a:r>
              <a:t>Separation of concerns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989320"/>
            <a:ext cx="3044952" cy="6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2B3644"/>
                </a:solidFill>
                <a:latin typeface="Aptos"/>
              </a:defRPr>
            </a:pPr>
            <a:r>
              <a:t>Reasoning stays separate from operational actions.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5486400"/>
            <a:ext cx="33375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51960" y="5486400"/>
            <a:ext cx="64008" cy="658368"/>
          </a:xfrm>
          <a:prstGeom prst="rect">
            <a:avLst/>
          </a:prstGeom>
          <a:solidFill>
            <a:srgbClr val="C7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34840" y="5605272"/>
            <a:ext cx="3044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D203A"/>
                </a:solidFill>
                <a:latin typeface="Aptos Display"/>
              </a:defRPr>
            </a:pPr>
            <a:r>
              <a:t>Validation &amp; safety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989320"/>
            <a:ext cx="3044952" cy="6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2B3644"/>
                </a:solidFill>
                <a:latin typeface="Aptos"/>
              </a:defRPr>
            </a:pPr>
            <a:r>
              <a:t>Tool inputs and destructive actions require controls.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5486400"/>
            <a:ext cx="33375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9560" y="5486400"/>
            <a:ext cx="64008" cy="658368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92440" y="5605272"/>
            <a:ext cx="3044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D203A"/>
                </a:solidFill>
                <a:latin typeface="Aptos Display"/>
              </a:defRPr>
            </a:pPr>
            <a:r>
              <a:t>Extensibility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5989320"/>
            <a:ext cx="3044952" cy="6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2B3644"/>
                </a:solidFill>
                <a:latin typeface="Aptos"/>
              </a:defRPr>
            </a:pPr>
            <a:r>
              <a:t>Add capabilities without redesigning the UI.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814733" cy="6924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rPr dirty="0"/>
              <a:t>Containerization &amp; CI/CD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rPr sz="1400" dirty="0"/>
              <a:t>From source code to a reproducible Docker image and Azure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325880"/>
            <a:ext cx="15087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203A"/>
                </a:solidFill>
                <a:latin typeface="Aptos Display"/>
              </a:defRPr>
            </a:pPr>
            <a:r>
              <a:t>Source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GitHub repository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92807" y="1783080"/>
            <a:ext cx="429769" cy="0"/>
          </a:xfrm>
          <a:prstGeom prst="line">
            <a:avLst/>
          </a:prstGeom>
          <a:ln w="22860">
            <a:solidFill>
              <a:srgbClr val="1F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1325880"/>
            <a:ext cx="15087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203A"/>
                </a:solidFill>
                <a:latin typeface="Aptos Display"/>
              </a:defRPr>
            </a:pPr>
            <a:r>
              <a:t>Dockerfile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Base image + runtime + dependencies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31335" y="1783080"/>
            <a:ext cx="429769" cy="0"/>
          </a:xfrm>
          <a:prstGeom prst="line">
            <a:avLst/>
          </a:prstGeom>
          <a:ln w="22860">
            <a:solidFill>
              <a:srgbClr val="009D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61104" y="1325880"/>
            <a:ext cx="15087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203A"/>
                </a:solidFill>
                <a:latin typeface="Aptos Display"/>
              </a:defRPr>
            </a:pPr>
            <a:r>
              <a:t>Build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Create application image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9864" y="1783080"/>
            <a:ext cx="429768" cy="0"/>
          </a:xfrm>
          <a:prstGeom prst="line">
            <a:avLst/>
          </a:prstGeom>
          <a:ln w="22860">
            <a:solidFill>
              <a:srgbClr val="E282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99632" y="1325880"/>
            <a:ext cx="15087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203A"/>
                </a:solidFill>
                <a:latin typeface="Aptos Display"/>
              </a:defRPr>
            </a:pPr>
            <a:r>
              <a:t>Registry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Push to Azure Container Registry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08392" y="1783080"/>
            <a:ext cx="429768" cy="0"/>
          </a:xfrm>
          <a:prstGeom prst="line">
            <a:avLst/>
          </a:prstGeom>
          <a:ln w="2286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60" y="1325880"/>
            <a:ext cx="15087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203A"/>
                </a:solidFill>
                <a:latin typeface="Aptos Display"/>
              </a:defRPr>
            </a:pPr>
            <a:r>
              <a:t>Deploy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Run in Azure Container Apps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46920" y="1783080"/>
            <a:ext cx="429768" cy="0"/>
          </a:xfrm>
          <a:prstGeom prst="line">
            <a:avLst/>
          </a:prstGeom>
          <a:ln w="22860">
            <a:solidFill>
              <a:srgbClr val="2A9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76688" y="1325880"/>
            <a:ext cx="15087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D203A"/>
                </a:solidFill>
                <a:latin typeface="Aptos Display"/>
              </a:defRPr>
            </a:pPr>
            <a:r>
              <a:t>Verify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Live application endpoint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3154680"/>
            <a:ext cx="64008" cy="1508760"/>
          </a:xfrm>
          <a:prstGeom prst="rect">
            <a:avLst/>
          </a:prstGeom>
          <a:solidFill>
            <a:srgbClr val="009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273552"/>
            <a:ext cx="31363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D203A"/>
                </a:solidFill>
                <a:latin typeface="Aptos Display"/>
              </a:defRPr>
            </a:pPr>
            <a:r>
              <a:t>Docker base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657600"/>
            <a:ext cx="313639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B3644"/>
                </a:solidFill>
                <a:latin typeface="Aptos"/>
              </a:defRPr>
            </a:pPr>
            <a:r>
              <a:t>Defines the runtime foundation; dependencies and application code are layered into the container image.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15468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89120" y="3154680"/>
            <a:ext cx="64008" cy="150876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3273552"/>
            <a:ext cx="31363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D203A"/>
                </a:solidFill>
                <a:latin typeface="Aptos Display"/>
              </a:defRPr>
            </a:pPr>
            <a:r>
              <a:t>GitHub 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657600"/>
            <a:ext cx="313639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B3644"/>
                </a:solidFill>
                <a:latin typeface="Aptos"/>
              </a:defRPr>
            </a:pPr>
            <a:r>
              <a:t>Automates build, image push and deployment as part of the delivery workflow.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3154680"/>
            <a:ext cx="34290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3154680"/>
            <a:ext cx="64008" cy="150876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75319" y="3273552"/>
            <a:ext cx="31363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D203A"/>
                </a:solidFill>
                <a:latin typeface="Aptos Display"/>
              </a:defRPr>
            </a:pPr>
            <a:r>
              <a:t>Azure runtime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3657600"/>
            <a:ext cx="313639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B3644"/>
                </a:solidFill>
                <a:latin typeface="Aptos"/>
              </a:defRPr>
            </a:pPr>
            <a:r>
              <a:t>The container image runs as the cloud workload and is exposed through the live application.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5257800"/>
            <a:ext cx="8503920" cy="594360"/>
          </a:xfrm>
          <a:prstGeom prst="roundRect">
            <a:avLst/>
          </a:prstGeom>
          <a:solidFill>
            <a:srgbClr val="F0F8FC"/>
          </a:solidFill>
          <a:ln w="17780"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D203A"/>
                </a:solidFill>
                <a:latin typeface="Aptos Display"/>
              </a:defRPr>
            </a:pPr>
            <a:r>
              <a:t>Delivery pipeline</a:t>
            </a:r>
          </a:p>
          <a:p>
            <a:pPr algn="ctr">
              <a:defRPr sz="880">
                <a:solidFill>
                  <a:srgbClr val="677484"/>
                </a:solidFill>
                <a:latin typeface="Aptos"/>
              </a:defRPr>
            </a:pPr>
            <a:r>
              <a:t>Code → Docker image → ACR → Azure Container Apps → Live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29804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77484"/>
                </a:solidFill>
                <a:latin typeface="Aptos"/>
              </a:defRPr>
            </a:pPr>
            <a:r>
              <a:rPr sz="1400" dirty="0"/>
              <a:t>IT Support Assistant • Ajay Kumar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500" b="1">
                <a:solidFill>
                  <a:srgbClr val="0F233D"/>
                </a:solidFill>
                <a:latin typeface="Aptos"/>
              </a:defRPr>
            </a:pPr>
            <a:r>
              <a:t>Azure Cloud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0">
                <a:solidFill>
                  <a:srgbClr val="697687"/>
                </a:solidFill>
                <a:latin typeface="Aptos"/>
              </a:defRPr>
            </a:pPr>
            <a:r>
              <a:t>Clear deployment and application-to-service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11338560" cy="5212080"/>
          </a:xfrm>
          <a:prstGeom prst="roundRect">
            <a:avLst/>
          </a:prstGeom>
          <a:solidFill>
            <a:srgbClr val="F8FBFE"/>
          </a:solidFill>
          <a:ln w="21590">
            <a:solidFill>
              <a:srgbClr val="23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2369BE"/>
                </a:solidFill>
                <a:latin typeface="Aptos"/>
              </a:defRPr>
            </a:pPr>
            <a:r>
              <a:t>AZURE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F233D"/>
                </a:solidFill>
                <a:latin typeface="Aptos"/>
              </a:defRPr>
            </a:pPr>
            <a:r>
              <a:t>DEPLOYMENT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011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3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33D"/>
                </a:solidFill>
                <a:latin typeface="Aptos Display"/>
              </a:defRPr>
            </a:pPr>
            <a:r>
              <a:t>GitHub Actions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Build + deploy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7570" y="1842516"/>
            <a:ext cx="214884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68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33D"/>
                </a:solidFill>
                <a:latin typeface="Aptos Display"/>
              </a:defRPr>
            </a:pPr>
            <a:r>
              <a:t>Azure Container Registry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Docker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6500" y="1828800"/>
            <a:ext cx="228600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33D"/>
                </a:solidFill>
                <a:latin typeface="Aptos Display"/>
              </a:defRPr>
            </a:pPr>
            <a:r>
              <a:t>Azure Container Apps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Running workload</a:t>
            </a:r>
          </a:p>
        </p:txBody>
      </p:sp>
      <p:cxnSp>
        <p:nvCxnSpPr>
          <p:cNvPr id="11" name="Connector 10"/>
          <p:cNvCxnSpPr>
            <a:cxnSpLocks/>
            <a:endCxn id="9" idx="1"/>
          </p:cNvCxnSpPr>
          <p:nvPr/>
        </p:nvCxnSpPr>
        <p:spPr>
          <a:xfrm>
            <a:off x="2697480" y="2212848"/>
            <a:ext cx="720090" cy="18288"/>
          </a:xfrm>
          <a:prstGeom prst="line">
            <a:avLst/>
          </a:prstGeom>
          <a:ln w="21590">
            <a:solidFill>
              <a:srgbClr val="2369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9601" y="1956816"/>
            <a:ext cx="594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2369BE"/>
                </a:solidFill>
                <a:latin typeface="Aptos"/>
              </a:defRPr>
            </a:pPr>
            <a:r>
              <a:rPr dirty="0"/>
              <a:t>BUILD / PUSH</a:t>
            </a:r>
          </a:p>
        </p:txBody>
      </p:sp>
      <p:cxnSp>
        <p:nvCxnSpPr>
          <p:cNvPr id="13" name="Connector 12"/>
          <p:cNvCxnSpPr>
            <a:cxnSpLocks/>
            <a:endCxn id="10" idx="1"/>
          </p:cNvCxnSpPr>
          <p:nvPr/>
        </p:nvCxnSpPr>
        <p:spPr>
          <a:xfrm>
            <a:off x="5590641" y="2212848"/>
            <a:ext cx="695859" cy="4572"/>
          </a:xfrm>
          <a:prstGeom prst="line">
            <a:avLst/>
          </a:prstGeom>
          <a:ln w="21590">
            <a:solidFill>
              <a:srgbClr val="E6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90641" y="1938528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E6842A"/>
                </a:solidFill>
                <a:latin typeface="Aptos"/>
              </a:defRPr>
            </a:pPr>
            <a:r>
              <a:rPr dirty="0"/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2608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F233D"/>
                </a:solidFill>
                <a:latin typeface="Aptos"/>
              </a:defRPr>
            </a:pPr>
            <a:r>
              <a:t>APPLICATION ENTRY &amp; RUNTIME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73552"/>
            <a:ext cx="201168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33D"/>
                </a:solidFill>
                <a:latin typeface="Aptos Display"/>
              </a:defRPr>
            </a:pPr>
            <a:r>
              <a:t>Live Web Endpoint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User access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3273552"/>
            <a:ext cx="214884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33D"/>
                </a:solidFill>
                <a:latin typeface="Aptos Display"/>
              </a:defRPr>
            </a:pPr>
            <a:r>
              <a:t>Application Runtime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Agent + workflows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7480" y="3685032"/>
            <a:ext cx="548640" cy="0"/>
          </a:xfrm>
          <a:prstGeom prst="line">
            <a:avLst/>
          </a:prstGeom>
          <a:ln w="21590">
            <a:solidFill>
              <a:srgbClr val="008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715768" y="3401568"/>
            <a:ext cx="53035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00897D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273552"/>
            <a:ext cx="196596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68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33D"/>
                </a:solidFill>
                <a:latin typeface="Aptos Display"/>
              </a:defRPr>
            </a:pPr>
            <a:r>
              <a:t>Service Gateway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MCP / tool calls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94960" y="3685032"/>
            <a:ext cx="594360" cy="0"/>
          </a:xfrm>
          <a:prstGeom prst="line">
            <a:avLst/>
          </a:prstGeom>
          <a:ln w="21590">
            <a:solidFill>
              <a:srgbClr val="E6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13248" y="3401568"/>
            <a:ext cx="56692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E6842A"/>
                </a:solidFill>
                <a:latin typeface="Aptos"/>
              </a:defRPr>
            </a:pPr>
            <a:r>
              <a:t>INVOKE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788920"/>
            <a:ext cx="342900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60" y="2907792"/>
            <a:ext cx="3017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233D"/>
                </a:solidFill>
                <a:latin typeface="Aptos"/>
              </a:defRPr>
            </a:pPr>
            <a:r>
              <a:t>AZURE / ENTERPRISE SERVICES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3273552"/>
            <a:ext cx="1417320" cy="685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33D"/>
                </a:solidFill>
                <a:latin typeface="Aptos Display"/>
              </a:defRPr>
            </a:pPr>
            <a:r>
              <a:t>Azure OpenAI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LLM inference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85248" y="3273552"/>
            <a:ext cx="1417320" cy="685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33D"/>
                </a:solidFill>
                <a:latin typeface="Aptos Display"/>
              </a:defRPr>
            </a:pPr>
            <a:r>
              <a:t>Operational DB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Employees + tickets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4192" y="4315968"/>
            <a:ext cx="1417320" cy="685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33D"/>
                </a:solidFill>
                <a:latin typeface="Aptos Display"/>
              </a:defRPr>
            </a:pPr>
            <a:r>
              <a:t>Email Service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VPN password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85248" y="4315968"/>
            <a:ext cx="1417320" cy="6858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233D"/>
                </a:solidFill>
                <a:latin typeface="Aptos Display"/>
              </a:defRPr>
            </a:pPr>
            <a:r>
              <a:t>Monitoring</a:t>
            </a:r>
          </a:p>
          <a:p>
            <a:pPr algn="ctr">
              <a:defRPr sz="800">
                <a:solidFill>
                  <a:srgbClr val="697687"/>
                </a:solidFill>
                <a:latin typeface="Aptos"/>
              </a:defRPr>
            </a:pPr>
            <a:r>
              <a:t>Logs + metrics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55279" y="3685032"/>
            <a:ext cx="438913" cy="0"/>
          </a:xfrm>
          <a:prstGeom prst="line">
            <a:avLst/>
          </a:prstGeom>
          <a:ln w="21590">
            <a:solidFill>
              <a:srgbClr val="E6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45552" y="3401568"/>
            <a:ext cx="502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E6842A"/>
                </a:solidFill>
                <a:latin typeface="Aptos"/>
              </a:defRPr>
            </a:pPr>
            <a:r>
              <a:t>CALL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5230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0">
                <a:solidFill>
                  <a:srgbClr val="697687"/>
                </a:solidFill>
                <a:latin typeface="Aptos"/>
              </a:defRPr>
            </a:pPr>
            <a:r>
              <a:t>• LLM inference  • DB read/write</a:t>
            </a:r>
            <a:br/>
            <a:r>
              <a:t>• VPN password email  • Telemetry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74920"/>
            <a:ext cx="72694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0F233D"/>
                </a:solidFill>
                <a:latin typeface="Aptos"/>
              </a:defRPr>
            </a:pPr>
            <a:r>
              <a:t>Runtime flow: User → Live Endpoint → Application Runtime → MCP / Tool Gateway → Azure &amp; Enterprise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73952"/>
            <a:ext cx="29804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77484"/>
                </a:solidFill>
                <a:latin typeface="Aptos"/>
              </a:defRPr>
            </a:pPr>
            <a:r>
              <a:rPr lang="en-US" sz="1400" dirty="0"/>
              <a:t>IT Support Assistant • Ajay Kumar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t>IT Support Assistant — Core Capabilities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t>Agentic AI across knowledge, ticketing, employee, VPN and email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43000"/>
            <a:ext cx="502920" cy="502920"/>
          </a:xfrm>
          <a:prstGeom prst="roundRect">
            <a:avLst/>
          </a:prstGeom>
          <a:solidFill>
            <a:srgbClr val="009DBE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124712"/>
            <a:ext cx="28346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1124712"/>
            <a:ext cx="64008" cy="1508760"/>
          </a:xfrm>
          <a:prstGeom prst="rect">
            <a:avLst/>
          </a:prstGeom>
          <a:solidFill>
            <a:srgbClr val="009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243584"/>
            <a:ext cx="180049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1">
                <a:solidFill>
                  <a:srgbClr val="0D203A"/>
                </a:solidFill>
                <a:latin typeface="Aptos Display"/>
              </a:defRPr>
            </a:pPr>
            <a:r>
              <a:rPr sz="1600" dirty="0"/>
              <a:t>Knowledge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27632"/>
            <a:ext cx="25420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60">
                <a:solidFill>
                  <a:srgbClr val="2B3644"/>
                </a:solidFill>
                <a:latin typeface="Aptos"/>
              </a:defRPr>
            </a:pPr>
            <a:r>
              <a:rPr sz="1400" dirty="0"/>
              <a:t>Find IT guidance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43000"/>
            <a:ext cx="502920" cy="502920"/>
          </a:xfrm>
          <a:prstGeom prst="roundRect">
            <a:avLst/>
          </a:prstGeom>
          <a:solidFill>
            <a:srgbClr val="1F69BE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24712"/>
            <a:ext cx="28346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63440" y="1124712"/>
            <a:ext cx="64008" cy="1508760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243584"/>
            <a:ext cx="25420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Ticket Lookup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627632"/>
            <a:ext cx="254203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Employee → tickets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143000"/>
            <a:ext cx="502920" cy="502920"/>
          </a:xfrm>
          <a:prstGeom prst="roundRect">
            <a:avLst/>
          </a:prstGeom>
          <a:solidFill>
            <a:srgbClr val="E2822D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124712"/>
            <a:ext cx="28346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40" y="1124712"/>
            <a:ext cx="64008" cy="1508760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19" y="1243584"/>
            <a:ext cx="25420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Intelligent Ticket Creation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1627632"/>
            <a:ext cx="254203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Auto-create employee + persist in DB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246120"/>
            <a:ext cx="502920" cy="502920"/>
          </a:xfrm>
          <a:prstGeom prst="roundRect">
            <a:avLst/>
          </a:prstGeom>
          <a:solidFill>
            <a:srgbClr val="2A975B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3227832"/>
            <a:ext cx="28346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005840" y="3227832"/>
            <a:ext cx="64008" cy="1508760"/>
          </a:xfrm>
          <a:prstGeom prst="rect">
            <a:avLst/>
          </a:prstGeom>
          <a:solidFill>
            <a:srgbClr val="2A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88720" y="3346703"/>
            <a:ext cx="25420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Employee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730752"/>
            <a:ext cx="254203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Register • ID • lifecycle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9080" y="3246120"/>
            <a:ext cx="502920" cy="502920"/>
          </a:xfrm>
          <a:prstGeom prst="roundRect">
            <a:avLst/>
          </a:prstGeom>
          <a:solidFill>
            <a:srgbClr val="C74646"/>
          </a:solidFill>
          <a:ln>
            <a:solidFill>
              <a:srgbClr val="C7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227832"/>
            <a:ext cx="28346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663440" y="3227832"/>
            <a:ext cx="64008" cy="1508760"/>
          </a:xfrm>
          <a:prstGeom prst="rect">
            <a:avLst/>
          </a:prstGeom>
          <a:solidFill>
            <a:srgbClr val="C7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0" y="3346703"/>
            <a:ext cx="25420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VPN Password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730752"/>
            <a:ext cx="254203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First-time password + reset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3246120"/>
            <a:ext cx="502920" cy="502920"/>
          </a:xfrm>
          <a:prstGeom prst="roundRect">
            <a:avLst/>
          </a:prstGeom>
          <a:solidFill>
            <a:srgbClr val="00897D"/>
          </a:solidFill>
          <a:ln>
            <a:solidFill>
              <a:srgbClr val="008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203A"/>
                </a:solidFill>
                <a:latin typeface="Aptos Display"/>
              </a:defRPr>
            </a:pPr>
            <a:r>
              <a:t>06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227832"/>
            <a:ext cx="28346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321040" y="3227832"/>
            <a:ext cx="64008" cy="1508760"/>
          </a:xfrm>
          <a:prstGeom prst="rect">
            <a:avLst/>
          </a:prstGeom>
          <a:solidFill>
            <a:srgbClr val="008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19" y="3346703"/>
            <a:ext cx="25420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Email Notification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730752"/>
            <a:ext cx="2542032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Send password / reset email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349240"/>
            <a:ext cx="8503920" cy="548640"/>
          </a:xfrm>
          <a:prstGeom prst="roundRect">
            <a:avLst/>
          </a:prstGeom>
          <a:solidFill>
            <a:srgbClr val="F0F8FC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dirty="0">
                <a:solidFill>
                  <a:srgbClr val="0D203A"/>
                </a:solidFill>
                <a:latin typeface="Aptos Display"/>
              </a:rPr>
              <a:t>Agentic execution</a:t>
            </a:r>
          </a:p>
          <a:p>
            <a:pPr algn="ctr"/>
            <a:r>
              <a:rPr sz="1400" dirty="0">
                <a:solidFill>
                  <a:srgbClr val="0D203A"/>
                </a:solidFill>
                <a:latin typeface="Aptos Display"/>
              </a:rPr>
              <a:t>Intent → Route → MCP / Tool → DB / Service → State → 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6808467" cy="6924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rPr dirty="0"/>
              <a:t>Security, Governance &amp; Production Readiness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rPr sz="1400" dirty="0"/>
              <a:t>Controls for employee data, VPN credentials, email delivery and enterprise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34747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64008" cy="1572768"/>
          </a:xfrm>
          <a:prstGeom prst="rect">
            <a:avLst/>
          </a:prstGeom>
          <a:solidFill>
            <a:srgbClr val="C7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318211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Identity &amp;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3182112" cy="9784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Authenticate users and apply role-based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4747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234440"/>
            <a:ext cx="64008" cy="1572768"/>
          </a:xfrm>
          <a:prstGeom prst="rect">
            <a:avLst/>
          </a:prstGeom>
          <a:solidFill>
            <a:srgbClr val="E28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353312"/>
            <a:ext cx="318211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Employee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737360"/>
            <a:ext cx="3182112" cy="9784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Protect employee creation, update, deactivation and deletion.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234440"/>
            <a:ext cx="34747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1234440"/>
            <a:ext cx="64008" cy="1572768"/>
          </a:xfrm>
          <a:prstGeom prst="rect">
            <a:avLst/>
          </a:prstGeom>
          <a:solidFill>
            <a:srgbClr val="C7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353312"/>
            <a:ext cx="318211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D203A"/>
                </a:solidFill>
                <a:latin typeface="Aptos Display"/>
              </a:defRPr>
            </a:lvl1pPr>
          </a:lstStyle>
          <a:p>
            <a:r>
              <a:rPr dirty="0"/>
              <a:t>Credential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37360"/>
            <a:ext cx="3182112" cy="9784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Never expose VPN passwords in chat/logs; use secure secret handling.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46120"/>
            <a:ext cx="34747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246120"/>
            <a:ext cx="64008" cy="1572768"/>
          </a:xfrm>
          <a:prstGeom prst="rect">
            <a:avLst/>
          </a:prstGeom>
          <a:solidFill>
            <a:srgbClr val="008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364992"/>
            <a:ext cx="144462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D203A"/>
                </a:solidFill>
                <a:latin typeface="Aptos Display"/>
              </a:defRPr>
            </a:pPr>
            <a:r>
              <a:rPr sz="1600" dirty="0"/>
              <a:t>Email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49040"/>
            <a:ext cx="3182112" cy="9784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Use approved email service and controlled password-delivery workflows.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246120"/>
            <a:ext cx="34747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43400" y="3246120"/>
            <a:ext cx="64008" cy="1572768"/>
          </a:xfrm>
          <a:prstGeom prst="rect">
            <a:avLst/>
          </a:prstGeom>
          <a:solidFill>
            <a:srgbClr val="1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3364992"/>
            <a:ext cx="154991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D203A"/>
                </a:solidFill>
                <a:latin typeface="Aptos Display"/>
              </a:defRPr>
            </a:pPr>
            <a:r>
              <a:rPr sz="1600" dirty="0"/>
              <a:t>Data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749040"/>
            <a:ext cx="31821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19">
                <a:solidFill>
                  <a:srgbClr val="2B3644"/>
                </a:solidFill>
                <a:latin typeface="Aptos"/>
              </a:defRPr>
            </a:pPr>
            <a:r>
              <a:rPr sz="1400" dirty="0"/>
              <a:t>Use managed, resilient database services for production scale.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246120"/>
            <a:ext cx="3474720" cy="1572768"/>
          </a:xfrm>
          <a:prstGeom prst="roundRect">
            <a:avLst/>
          </a:prstGeom>
          <a:solidFill>
            <a:srgbClr val="FFFFFF"/>
          </a:solidFill>
          <a:ln>
            <a:solidFill>
              <a:srgbClr val="DC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38160" y="3246120"/>
            <a:ext cx="64008" cy="1572768"/>
          </a:xfrm>
          <a:prstGeom prst="rect">
            <a:avLst/>
          </a:prstGeom>
          <a:solidFill>
            <a:srgbClr val="009D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364992"/>
            <a:ext cx="17468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20" b="1">
                <a:solidFill>
                  <a:srgbClr val="0D203A"/>
                </a:solidFill>
                <a:latin typeface="Aptos Display"/>
              </a:defRPr>
            </a:pPr>
            <a:r>
              <a:rPr sz="1600" dirty="0"/>
              <a:t>Observability &amp;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749040"/>
            <a:ext cx="3182112" cy="9784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2B3644"/>
                </a:solidFill>
                <a:latin typeface="Aptos"/>
              </a:defRPr>
            </a:lvl1pPr>
          </a:lstStyle>
          <a:p>
            <a:r>
              <a:rPr dirty="0"/>
              <a:t>Monitor tool calls, failures, latency and model behavior.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486400"/>
            <a:ext cx="10332720" cy="530352"/>
          </a:xfrm>
          <a:prstGeom prst="roundRect">
            <a:avLst/>
          </a:prstGeom>
          <a:solidFill>
            <a:srgbClr val="F0F8FC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D203A"/>
                </a:solidFill>
                <a:latin typeface="Aptos Display"/>
              </a:defRPr>
            </a:pPr>
            <a:r>
              <a:rPr sz="1600" dirty="0"/>
              <a:t>Production priority</a:t>
            </a:r>
          </a:p>
          <a:p>
            <a:pPr algn="ctr">
              <a:defRPr sz="850">
                <a:solidFill>
                  <a:srgbClr val="677484"/>
                </a:solidFill>
                <a:latin typeface="Aptos"/>
              </a:defRPr>
            </a:pPr>
            <a:r>
              <a:rPr sz="1400" dirty="0"/>
              <a:t>Identity → Credential Security → Data → Authorization → Email → Monitoring / AI Governance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5356531" cy="6924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D203A"/>
                </a:solidFill>
                <a:latin typeface="Aptos Display"/>
              </a:defRPr>
            </a:pPr>
            <a:r>
              <a:rPr dirty="0">
                <a:solidFill>
                  <a:schemeClr val="bg1"/>
                </a:solidFill>
              </a:rPr>
              <a:t>Project Summary &amp; Key Outcomes</a:t>
            </a:r>
          </a:p>
          <a:p>
            <a:pPr>
              <a:defRPr sz="1050">
                <a:solidFill>
                  <a:srgbClr val="677484"/>
                </a:solidFill>
                <a:latin typeface="Aptos"/>
              </a:defRPr>
            </a:pPr>
            <a:r>
              <a:rPr sz="1400" dirty="0">
                <a:solidFill>
                  <a:schemeClr val="bg1"/>
                </a:solidFill>
              </a:rPr>
              <a:t>From agentic AI workflow to cloud-deployed IT operations assistant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2606040" cy="1783080"/>
          </a:xfrm>
          <a:prstGeom prst="roundRect">
            <a:avLst/>
          </a:prstGeom>
          <a:solidFill>
            <a:srgbClr val="193555"/>
          </a:solidFill>
          <a:ln>
            <a:solidFill>
              <a:srgbClr val="009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 Display"/>
              </a:defRPr>
            </a:pPr>
            <a:r>
              <a:t>Conversational</a:t>
            </a:r>
          </a:p>
          <a:p>
            <a:pPr algn="ctr">
              <a:defRPr sz="1000">
                <a:solidFill>
                  <a:srgbClr val="D2E1F0"/>
                </a:solidFill>
                <a:latin typeface="Aptos"/>
              </a:defRPr>
            </a:pPr>
            <a:r>
              <a:t>Natural-language IT support through a unified interface.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280160"/>
            <a:ext cx="2606040" cy="1783080"/>
          </a:xfrm>
          <a:prstGeom prst="roundRect">
            <a:avLst/>
          </a:prstGeom>
          <a:solidFill>
            <a:srgbClr val="193555"/>
          </a:solidFill>
          <a:ln>
            <a:solidFill>
              <a:srgbClr val="1F69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 Display"/>
              </a:defRPr>
            </a:pPr>
            <a:r>
              <a:t>Agentic</a:t>
            </a:r>
          </a:p>
          <a:p>
            <a:pPr algn="ctr">
              <a:defRPr sz="1000">
                <a:solidFill>
                  <a:srgbClr val="D2E1F0"/>
                </a:solidFill>
                <a:latin typeface="Aptos"/>
              </a:defRPr>
            </a:pPr>
            <a:r>
              <a:t>LangGraph-driven intent, routing and stateful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280160"/>
            <a:ext cx="2606040" cy="1783080"/>
          </a:xfrm>
          <a:prstGeom prst="roundRect">
            <a:avLst/>
          </a:prstGeom>
          <a:solidFill>
            <a:srgbClr val="193555"/>
          </a:solidFill>
          <a:ln>
            <a:solidFill>
              <a:srgbClr val="E28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 Display"/>
              </a:defRPr>
            </a:pPr>
            <a:r>
              <a:t>Integrated</a:t>
            </a:r>
          </a:p>
          <a:p>
            <a:pPr algn="ctr">
              <a:defRPr sz="1000">
                <a:solidFill>
                  <a:srgbClr val="D2E1F0"/>
                </a:solidFill>
                <a:latin typeface="Aptos"/>
              </a:defRPr>
            </a:pPr>
            <a:r>
              <a:t>MCP / tools connect reasoning with operational services.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19" y="1280160"/>
            <a:ext cx="2606040" cy="1783080"/>
          </a:xfrm>
          <a:prstGeom prst="roundRect">
            <a:avLst/>
          </a:prstGeom>
          <a:solidFill>
            <a:srgbClr val="193555"/>
          </a:solidFill>
          <a:ln>
            <a:solidFill>
              <a:srgbClr val="2A9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 Display"/>
              </a:defRPr>
            </a:pPr>
            <a:r>
              <a:t>Operational</a:t>
            </a:r>
          </a:p>
          <a:p>
            <a:pPr algn="ctr">
              <a:defRPr sz="1000">
                <a:solidFill>
                  <a:srgbClr val="D2E1F0"/>
                </a:solidFill>
                <a:latin typeface="Aptos"/>
              </a:defRPr>
            </a:pPr>
            <a:r>
              <a:t>Knowledge, tickets, employees, VPN and email workflows.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  <a:latin typeface="Aptos"/>
              </a:defRPr>
            </a:pPr>
            <a:r>
              <a:t>Ajay Kumar</a:t>
            </a:r>
          </a:p>
          <a:p>
            <a:pPr algn="ctr">
              <a:defRPr sz="1200">
                <a:solidFill>
                  <a:srgbClr val="BED7EB"/>
                </a:solidFill>
                <a:latin typeface="Aptos"/>
              </a:defRPr>
            </a:pPr>
            <a:r>
              <a:t>helloajay21@gmail.com</a:t>
            </a:r>
          </a:p>
          <a:p>
            <a:pPr algn="ctr">
              <a:defRPr sz="1200">
                <a:solidFill>
                  <a:srgbClr val="BED7EB"/>
                </a:solidFill>
                <a:latin typeface="Aptos"/>
              </a:defRPr>
            </a:pPr>
            <a:r>
              <a:rPr>
                <a:hlinkClick r:id="rId2"/>
              </a:rPr>
              <a:t>GitHub • github.com/helloajay21-max/-it-support-assistant</a:t>
            </a:r>
          </a:p>
          <a:p>
            <a:pPr algn="ctr">
              <a:defRPr sz="1200">
                <a:solidFill>
                  <a:srgbClr val="BED7EB"/>
                </a:solidFill>
                <a:latin typeface="Aptos"/>
              </a:defRPr>
            </a:pPr>
            <a:r>
              <a:rPr>
                <a:hlinkClick r:id="rId3"/>
              </a:rPr>
              <a:t>Live App • it-support-ajay-001.azurewebsites.net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defPPr>
              <a:defRPr lang="en-US"/>
            </a:defPPr>
            <a:lvl1pPr>
              <a:defRPr sz="1400">
                <a:solidFill>
                  <a:srgbClr val="677484"/>
                </a:solidFill>
                <a:latin typeface="Aptos"/>
              </a:defRPr>
            </a:lvl1pPr>
          </a:lstStyle>
          <a:p>
            <a:r>
              <a:rPr dirty="0"/>
              <a:t>IT Support Assistant • Ajay Kumar |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1095</Words>
  <Application>Microsoft Office PowerPoint</Application>
  <PresentationFormat>Widescreen</PresentationFormat>
  <Paragraphs>243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Kumar</cp:lastModifiedBy>
  <cp:revision>10</cp:revision>
  <dcterms:created xsi:type="dcterms:W3CDTF">2013-01-27T09:14:16Z</dcterms:created>
  <dcterms:modified xsi:type="dcterms:W3CDTF">2026-08-25T10:44:10Z</dcterms:modified>
  <cp:category/>
</cp:coreProperties>
</file>