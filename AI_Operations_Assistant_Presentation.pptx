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1148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005840"/>
            <a:ext cx="10515600" cy="2926080"/>
          </a:xfrm>
          <a:prstGeom prst="roundRect">
            <a:avLst/>
          </a:prstGeom>
          <a:solidFill>
            <a:srgbClr val="F1F5F9"/>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645920"/>
            <a:ext cx="9601200" cy="822960"/>
          </a:xfrm>
          <a:prstGeom prst="rect">
            <a:avLst/>
          </a:prstGeom>
          <a:noFill/>
        </p:spPr>
        <p:txBody>
          <a:bodyPr wrap="none">
            <a:spAutoFit/>
          </a:bodyPr>
          <a:lstStyle/>
          <a:p>
            <a:pPr algn="ctr"/>
            <a:r>
              <a:rPr sz="2800" b="1">
                <a:solidFill>
                  <a:srgbClr val="0F172A"/>
                </a:solidFill>
                <a:latin typeface="Arial"/>
              </a:rPr>
              <a:t>AI Operations Assistant Using Agentic AI</a:t>
            </a:r>
          </a:p>
        </p:txBody>
      </p:sp>
      <p:sp>
        <p:nvSpPr>
          <p:cNvPr id="5" name="TextBox 4"/>
          <p:cNvSpPr txBox="1"/>
          <p:nvPr/>
        </p:nvSpPr>
        <p:spPr>
          <a:xfrm>
            <a:off x="1188720" y="2560320"/>
            <a:ext cx="9601200" cy="457200"/>
          </a:xfrm>
          <a:prstGeom prst="rect">
            <a:avLst/>
          </a:prstGeom>
          <a:noFill/>
        </p:spPr>
        <p:txBody>
          <a:bodyPr wrap="none">
            <a:spAutoFit/>
          </a:bodyPr>
          <a:lstStyle/>
          <a:p>
            <a:pPr algn="ctr"/>
            <a:r>
              <a:rPr sz="1600">
                <a:solidFill>
                  <a:srgbClr val="475569"/>
                </a:solidFill>
                <a:latin typeface="Arial"/>
              </a:rPr>
              <a:t>Capstone Project Presentation</a:t>
            </a:r>
          </a:p>
        </p:txBody>
      </p:sp>
      <p:sp>
        <p:nvSpPr>
          <p:cNvPr id="6" name="Rectangle 5"/>
          <p:cNvSpPr/>
          <p:nvPr/>
        </p:nvSpPr>
        <p:spPr>
          <a:xfrm>
            <a:off x="1005840" y="4069080"/>
            <a:ext cx="10149840" cy="640080"/>
          </a:xfrm>
          <a:prstGeom prst="rect">
            <a:avLst/>
          </a:prstGeom>
          <a:solidFill>
            <a:srgbClr val="DBEAFE"/>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05EB8"/>
                </a:solidFill>
                <a:latin typeface="Arial"/>
              </a:rPr>
              <a:t>Tech Stack: LangGraph ? LangChain ? MCP ? Streamlit ? Azure OpenAI ? Docker ? Azure Container Registry ? Azure Container Apps ? GitHub Actions ? SQLite</a:t>
            </a:r>
          </a:p>
        </p:txBody>
      </p:sp>
      <p:sp>
        <p:nvSpPr>
          <p:cNvPr id="7" name="Rectangle 6"/>
          <p:cNvSpPr/>
          <p:nvPr/>
        </p:nvSpPr>
        <p:spPr>
          <a:xfrm>
            <a:off x="1371600" y="4983480"/>
            <a:ext cx="9418320" cy="594360"/>
          </a:xfrm>
          <a:prstGeom prst="rect">
            <a:avLst/>
          </a:prstGeom>
          <a:solidFill>
            <a:srgbClr val="FFFFFF"/>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005EB8"/>
                </a:solidFill>
                <a:latin typeface="Arial"/>
              </a:rPr>
              <a:t>Owner: Ajay Kumar | Email: helloajay21@gmail.com | Batch 1</a:t>
            </a:r>
          </a:p>
        </p:txBody>
      </p:sp>
      <p:sp>
        <p:nvSpPr>
          <p:cNvPr id="8" name="TextBox 7"/>
          <p:cNvSpPr txBox="1"/>
          <p:nvPr/>
        </p:nvSpPr>
        <p:spPr>
          <a:xfrm>
            <a:off x="182880"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8229600" cy="640080"/>
          </a:xfrm>
          <a:prstGeom prst="rect">
            <a:avLst/>
          </a:prstGeom>
          <a:noFill/>
        </p:spPr>
        <p:txBody>
          <a:bodyPr wrap="none">
            <a:spAutoFit/>
          </a:bodyPr>
          <a:lstStyle/>
          <a:p>
            <a:pPr algn="l"/>
            <a:r>
              <a:rPr sz="2400" b="1">
                <a:solidFill>
                  <a:srgbClr val="0F172A"/>
                </a:solidFill>
                <a:latin typeface="Arial"/>
              </a:rPr>
              <a:t>Business Problem &amp; Solution</a:t>
            </a:r>
          </a:p>
        </p:txBody>
      </p:sp>
      <p:sp>
        <p:nvSpPr>
          <p:cNvPr id="3" name="Rectangle 2"/>
          <p:cNvSpPr/>
          <p:nvPr/>
        </p:nvSpPr>
        <p:spPr>
          <a:xfrm>
            <a:off x="548640" y="868680"/>
            <a:ext cx="182880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789920" cy="4206240"/>
          </a:xfrm>
          <a:prstGeom prst="rect">
            <a:avLst/>
          </a:prstGeom>
          <a:noFill/>
        </p:spPr>
        <p:txBody>
          <a:bodyPr wrap="square">
            <a:spAutoFit/>
          </a:bodyPr>
          <a:lstStyle/>
          <a:p>
            <a:pPr algn="just">
              <a:lnSpc>
                <a:spcPct val="115000"/>
              </a:lnSpc>
              <a:spcAft>
                <a:spcPts val="600"/>
              </a:spcAft>
            </a:pPr>
            <a:r>
              <a:rPr sz="2000">
                <a:solidFill>
                  <a:srgbClr val="0F172A"/>
                </a:solidFill>
                <a:latin typeface="Arial"/>
              </a:rPr>
              <a:t>IT support users often need answers, ticket status, ticket creation, and employee-related actions across multiple workflows. Manual navigation and repeated requests increase effort, delay resolution, and reduce productivity.</a:t>
            </a:r>
          </a:p>
          <a:p>
            <a:pPr algn="just">
              <a:lnSpc>
                <a:spcPct val="115000"/>
              </a:lnSpc>
              <a:spcAft>
                <a:spcPts val="600"/>
              </a:spcAft>
            </a:pPr>
            <a:r>
              <a:rPr sz="2000">
                <a:solidFill>
                  <a:srgbClr val="0F172A"/>
                </a:solidFill>
                <a:latin typeface="Arial"/>
              </a:rPr>
              <a:t>The proposed solution transforms repetitive support activities into an intelligent conversational workflow driven by an agentic AI assistant that understands user intent, maintains conversational state, routes requests to the correct tools, and performs the right operational actions securely.</a:t>
            </a:r>
          </a:p>
        </p:txBody>
      </p:sp>
      <p:sp>
        <p:nvSpPr>
          <p:cNvPr id="5" name="TextBox 4"/>
          <p:cNvSpPr txBox="1"/>
          <p:nvPr/>
        </p:nvSpPr>
        <p:spPr>
          <a:xfrm>
            <a:off x="164592"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8229600" cy="640080"/>
          </a:xfrm>
          <a:prstGeom prst="rect">
            <a:avLst/>
          </a:prstGeom>
          <a:noFill/>
        </p:spPr>
        <p:txBody>
          <a:bodyPr wrap="none">
            <a:spAutoFit/>
          </a:bodyPr>
          <a:lstStyle/>
          <a:p>
            <a:pPr algn="l"/>
            <a:r>
              <a:rPr sz="2400" b="1">
                <a:solidFill>
                  <a:srgbClr val="0F172A"/>
                </a:solidFill>
                <a:latin typeface="Arial"/>
              </a:rPr>
              <a:t>Agentic AI Solution Architecture</a:t>
            </a:r>
          </a:p>
        </p:txBody>
      </p:sp>
      <p:sp>
        <p:nvSpPr>
          <p:cNvPr id="3" name="Rectangle 2"/>
          <p:cNvSpPr/>
          <p:nvPr/>
        </p:nvSpPr>
        <p:spPr>
          <a:xfrm>
            <a:off x="548640" y="868680"/>
            <a:ext cx="182880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560320"/>
            <a:ext cx="137160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Streamlit UI</a:t>
            </a:r>
          </a:p>
        </p:txBody>
      </p:sp>
      <p:sp>
        <p:nvSpPr>
          <p:cNvPr id="5" name="Right Arrow 4"/>
          <p:cNvSpPr/>
          <p:nvPr/>
        </p:nvSpPr>
        <p:spPr>
          <a:xfrm>
            <a:off x="2103120" y="288036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468880" y="2560320"/>
            <a:ext cx="155448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Intent + State</a:t>
            </a:r>
          </a:p>
        </p:txBody>
      </p:sp>
      <p:sp>
        <p:nvSpPr>
          <p:cNvPr id="7" name="Right Arrow 6"/>
          <p:cNvSpPr/>
          <p:nvPr/>
        </p:nvSpPr>
        <p:spPr>
          <a:xfrm>
            <a:off x="4023360" y="288036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89120" y="2560320"/>
            <a:ext cx="164592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LangGraph Router</a:t>
            </a:r>
          </a:p>
        </p:txBody>
      </p:sp>
      <p:sp>
        <p:nvSpPr>
          <p:cNvPr id="9" name="Right Arrow 8"/>
          <p:cNvSpPr/>
          <p:nvPr/>
        </p:nvSpPr>
        <p:spPr>
          <a:xfrm>
            <a:off x="6035040" y="288036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2560320"/>
            <a:ext cx="164592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MCP / Tool Layer</a:t>
            </a:r>
          </a:p>
        </p:txBody>
      </p:sp>
      <p:sp>
        <p:nvSpPr>
          <p:cNvPr id="11" name="Right Arrow 10"/>
          <p:cNvSpPr/>
          <p:nvPr/>
        </p:nvSpPr>
        <p:spPr>
          <a:xfrm>
            <a:off x="7955280" y="2880360"/>
            <a:ext cx="457200" cy="182880"/>
          </a:xfrm>
          <a:prstGeom prst="rightArrow">
            <a:avLst/>
          </a:prstGeom>
          <a:solidFill>
            <a:srgbClr val="4755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0" y="2560320"/>
            <a:ext cx="1828800" cy="82296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Operational Systems</a:t>
            </a:r>
          </a:p>
        </p:txBody>
      </p:sp>
      <p:sp>
        <p:nvSpPr>
          <p:cNvPr id="13" name="TextBox 12"/>
          <p:cNvSpPr txBox="1"/>
          <p:nvPr/>
        </p:nvSpPr>
        <p:spPr>
          <a:xfrm>
            <a:off x="731520" y="3931920"/>
            <a:ext cx="10698480" cy="1828800"/>
          </a:xfrm>
          <a:prstGeom prst="rect">
            <a:avLst/>
          </a:prstGeom>
          <a:noFill/>
        </p:spPr>
        <p:txBody>
          <a:bodyPr wrap="none">
            <a:spAutoFit/>
          </a:bodyPr>
          <a:lstStyle/>
          <a:p>
            <a:pPr algn="just">
              <a:lnSpc>
                <a:spcPct val="115000"/>
              </a:lnSpc>
              <a:spcAft>
                <a:spcPts val="600"/>
              </a:spcAft>
            </a:pPr>
            <a:r>
              <a:rPr sz="1700">
                <a:solidFill>
                  <a:srgbClr val="0F172A"/>
                </a:solidFill>
                <a:latin typeface="Arial"/>
              </a:rPr>
              <a:t>Understand: Natural-language intent and request context</a:t>
            </a:r>
          </a:p>
          <a:p>
            <a:pPr algn="just">
              <a:lnSpc>
                <a:spcPct val="115000"/>
              </a:lnSpc>
              <a:spcAft>
                <a:spcPts val="600"/>
              </a:spcAft>
            </a:pPr>
            <a:r>
              <a:rPr sz="1700">
                <a:solidFill>
                  <a:srgbClr val="0F172A"/>
                </a:solidFill>
                <a:latin typeface="Arial"/>
              </a:rPr>
              <a:t>Orchestrate: LangGraph reasoning, state management, and conditional routing</a:t>
            </a:r>
          </a:p>
          <a:p>
            <a:pPr algn="just">
              <a:lnSpc>
                <a:spcPct val="115000"/>
              </a:lnSpc>
              <a:spcAft>
                <a:spcPts val="600"/>
              </a:spcAft>
            </a:pPr>
            <a:r>
              <a:rPr sz="1600">
                <a:solidFill>
                  <a:srgbClr val="0F172A"/>
                </a:solidFill>
                <a:latin typeface="Arial"/>
              </a:rPr>
              <a:t>Act: Knowledge lookup, ticket operations, employee actions, VPN requests, and email dispatch</a:t>
            </a:r>
          </a:p>
          <a:p>
            <a:pPr algn="just">
              <a:lnSpc>
                <a:spcPct val="115000"/>
              </a:lnSpc>
              <a:spcAft>
                <a:spcPts val="600"/>
              </a:spcAft>
            </a:pPr>
            <a:r>
              <a:rPr sz="1600">
                <a:solidFill>
                  <a:srgbClr val="0F172A"/>
                </a:solidFill>
                <a:latin typeface="Arial"/>
              </a:rPr>
              <a:t>Result: Context-aware responses with workflow execution and secure validation</a:t>
            </a:r>
          </a:p>
        </p:txBody>
      </p:sp>
      <p:sp>
        <p:nvSpPr>
          <p:cNvPr id="14" name="TextBox 13"/>
          <p:cNvSpPr txBox="1"/>
          <p:nvPr/>
        </p:nvSpPr>
        <p:spPr>
          <a:xfrm>
            <a:off x="164592"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8229600" cy="640080"/>
          </a:xfrm>
          <a:prstGeom prst="rect">
            <a:avLst/>
          </a:prstGeom>
          <a:noFill/>
        </p:spPr>
        <p:txBody>
          <a:bodyPr wrap="none">
            <a:spAutoFit/>
          </a:bodyPr>
          <a:lstStyle/>
          <a:p>
            <a:pPr algn="l"/>
            <a:r>
              <a:rPr sz="2400" b="1">
                <a:solidFill>
                  <a:srgbClr val="0F172A"/>
                </a:solidFill>
                <a:latin typeface="Arial"/>
              </a:rPr>
              <a:t>Core Capabilities</a:t>
            </a:r>
          </a:p>
        </p:txBody>
      </p:sp>
      <p:sp>
        <p:nvSpPr>
          <p:cNvPr id="3" name="Rectangle 2"/>
          <p:cNvSpPr/>
          <p:nvPr/>
        </p:nvSpPr>
        <p:spPr>
          <a:xfrm>
            <a:off x="548640" y="868680"/>
            <a:ext cx="182880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5212080" cy="4389120"/>
          </a:xfrm>
          <a:prstGeom prst="rect">
            <a:avLst/>
          </a:prstGeom>
          <a:noFill/>
        </p:spPr>
        <p:txBody>
          <a:bodyPr wrap="square">
            <a:spAutoFit/>
          </a:bodyPr>
          <a:lstStyle/>
          <a:p>
            <a:pPr algn="l">
              <a:spcAft>
                <a:spcPts val="600"/>
              </a:spcAft>
            </a:pPr>
            <a:r>
              <a:rPr sz="1800" b="1">
                <a:solidFill>
                  <a:srgbClr val="005EB8"/>
                </a:solidFill>
                <a:latin typeface="Arial"/>
              </a:rPr>
              <a:t>Operational Functions</a:t>
            </a:r>
          </a:p>
          <a:p>
            <a:pPr algn="just">
              <a:lnSpc>
                <a:spcPct val="112000"/>
              </a:lnSpc>
              <a:spcAft>
                <a:spcPts val="600"/>
              </a:spcAft>
            </a:pPr>
            <a:r>
              <a:rPr sz="1500">
                <a:solidFill>
                  <a:srgbClr val="0F172A"/>
                </a:solidFill>
                <a:latin typeface="Arial"/>
              </a:rPr>
              <a:t>Knowledge search and IT guidance lookup</a:t>
            </a:r>
          </a:p>
          <a:p>
            <a:pPr algn="just">
              <a:lnSpc>
                <a:spcPct val="112000"/>
              </a:lnSpc>
              <a:spcAft>
                <a:spcPts val="600"/>
              </a:spcAft>
            </a:pPr>
            <a:r>
              <a:rPr sz="1500">
                <a:solidFill>
                  <a:srgbClr val="0F172A"/>
                </a:solidFill>
                <a:latin typeface="Arial"/>
              </a:rPr>
              <a:t>Ticket lookup, creation, and status tracking</a:t>
            </a:r>
          </a:p>
          <a:p>
            <a:pPr algn="just">
              <a:lnSpc>
                <a:spcPct val="112000"/>
              </a:lnSpc>
              <a:spcAft>
                <a:spcPts val="600"/>
              </a:spcAft>
            </a:pPr>
            <a:r>
              <a:rPr sz="1500">
                <a:solidFill>
                  <a:srgbClr val="0F172A"/>
                </a:solidFill>
                <a:latin typeface="Arial"/>
              </a:rPr>
              <a:t>Employee registration, identity validation, and DB persistence</a:t>
            </a:r>
          </a:p>
          <a:p>
            <a:pPr algn="just">
              <a:lnSpc>
                <a:spcPct val="112000"/>
              </a:lnSpc>
              <a:spcAft>
                <a:spcPts val="600"/>
              </a:spcAft>
            </a:pPr>
            <a:r>
              <a:rPr sz="1500">
                <a:solidFill>
                  <a:srgbClr val="0F172A"/>
                </a:solidFill>
                <a:latin typeface="Arial"/>
              </a:rPr>
              <a:t>VPN first-time setup and password reset workflows</a:t>
            </a:r>
          </a:p>
          <a:p>
            <a:pPr algn="just">
              <a:lnSpc>
                <a:spcPct val="112000"/>
              </a:lnSpc>
              <a:spcAft>
                <a:spcPts val="600"/>
              </a:spcAft>
            </a:pPr>
            <a:r>
              <a:rPr sz="1500">
                <a:solidFill>
                  <a:srgbClr val="0F172A"/>
                </a:solidFill>
                <a:latin typeface="Arial"/>
              </a:rPr>
              <a:t>Email dispatch for password and approval actions</a:t>
            </a:r>
          </a:p>
        </p:txBody>
      </p:sp>
      <p:sp>
        <p:nvSpPr>
          <p:cNvPr id="5" name="TextBox 4"/>
          <p:cNvSpPr txBox="1"/>
          <p:nvPr/>
        </p:nvSpPr>
        <p:spPr>
          <a:xfrm>
            <a:off x="6217920" y="1371600"/>
            <a:ext cx="5029200" cy="4389120"/>
          </a:xfrm>
          <a:prstGeom prst="rect">
            <a:avLst/>
          </a:prstGeom>
          <a:noFill/>
        </p:spPr>
        <p:txBody>
          <a:bodyPr wrap="square">
            <a:spAutoFit/>
          </a:bodyPr>
          <a:lstStyle/>
          <a:p>
            <a:pPr algn="l">
              <a:spcAft>
                <a:spcPts val="600"/>
              </a:spcAft>
            </a:pPr>
            <a:r>
              <a:rPr sz="1800" b="1">
                <a:solidFill>
                  <a:srgbClr val="005EB8"/>
                </a:solidFill>
                <a:latin typeface="Arial"/>
              </a:rPr>
              <a:t>Security and Governance</a:t>
            </a:r>
          </a:p>
          <a:p>
            <a:pPr algn="just">
              <a:lnSpc>
                <a:spcPct val="112000"/>
              </a:lnSpc>
              <a:spcAft>
                <a:spcPts val="600"/>
              </a:spcAft>
            </a:pPr>
            <a:r>
              <a:rPr sz="1500">
                <a:solidFill>
                  <a:srgbClr val="0F172A"/>
                </a:solidFill>
                <a:latin typeface="Arial"/>
              </a:rPr>
              <a:t>Secure login and sign-up with hashed passwords</a:t>
            </a:r>
          </a:p>
          <a:p>
            <a:pPr algn="just">
              <a:lnSpc>
                <a:spcPct val="112000"/>
              </a:lnSpc>
              <a:spcAft>
                <a:spcPts val="600"/>
              </a:spcAft>
            </a:pPr>
            <a:r>
              <a:rPr sz="1500">
                <a:solidFill>
                  <a:srgbClr val="0F172A"/>
                </a:solidFill>
                <a:latin typeface="Arial"/>
              </a:rPr>
              <a:t>Admin-only approval and rejection control</a:t>
            </a:r>
          </a:p>
          <a:p>
            <a:pPr algn="just">
              <a:lnSpc>
                <a:spcPct val="112000"/>
              </a:lnSpc>
              <a:spcAft>
                <a:spcPts val="600"/>
              </a:spcAft>
            </a:pPr>
            <a:r>
              <a:rPr sz="1500">
                <a:solidFill>
                  <a:srgbClr val="0F172A"/>
                </a:solidFill>
                <a:latin typeface="Arial"/>
              </a:rPr>
              <a:t>Protected admin profile and user-level access rules</a:t>
            </a:r>
          </a:p>
          <a:p>
            <a:pPr algn="just">
              <a:lnSpc>
                <a:spcPct val="112000"/>
              </a:lnSpc>
              <a:spcAft>
                <a:spcPts val="600"/>
              </a:spcAft>
            </a:pPr>
            <a:r>
              <a:rPr sz="1500">
                <a:solidFill>
                  <a:srgbClr val="0F172A"/>
                </a:solidFill>
                <a:latin typeface="Arial"/>
              </a:rPr>
              <a:t>Password reset token handling with expiry and validation</a:t>
            </a:r>
          </a:p>
          <a:p>
            <a:pPr algn="just">
              <a:lnSpc>
                <a:spcPct val="112000"/>
              </a:lnSpc>
              <a:spcAft>
                <a:spcPts val="600"/>
              </a:spcAft>
            </a:pPr>
            <a:r>
              <a:rPr sz="1500">
                <a:solidFill>
                  <a:srgbClr val="0F172A"/>
                </a:solidFill>
                <a:latin typeface="Arial"/>
              </a:rPr>
              <a:t>Safe DB initialization and production deployment hardening</a:t>
            </a:r>
          </a:p>
        </p:txBody>
      </p:sp>
      <p:sp>
        <p:nvSpPr>
          <p:cNvPr id="6" name="TextBox 5"/>
          <p:cNvSpPr txBox="1"/>
          <p:nvPr/>
        </p:nvSpPr>
        <p:spPr>
          <a:xfrm>
            <a:off x="164592"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8229600" cy="640080"/>
          </a:xfrm>
          <a:prstGeom prst="rect">
            <a:avLst/>
          </a:prstGeom>
          <a:noFill/>
        </p:spPr>
        <p:txBody>
          <a:bodyPr wrap="none">
            <a:spAutoFit/>
          </a:bodyPr>
          <a:lstStyle/>
          <a:p>
            <a:pPr algn="l"/>
            <a:r>
              <a:rPr sz="2400" b="1">
                <a:solidFill>
                  <a:srgbClr val="0F172A"/>
                </a:solidFill>
                <a:latin typeface="Arial"/>
              </a:rPr>
              <a:t>Technology Stack</a:t>
            </a:r>
          </a:p>
        </p:txBody>
      </p:sp>
      <p:sp>
        <p:nvSpPr>
          <p:cNvPr id="3" name="Rectangle 2"/>
          <p:cNvSpPr/>
          <p:nvPr/>
        </p:nvSpPr>
        <p:spPr>
          <a:xfrm>
            <a:off x="548640" y="868680"/>
            <a:ext cx="182880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5212080" cy="3840480"/>
          </a:xfrm>
          <a:prstGeom prst="rect">
            <a:avLst/>
          </a:prstGeom>
          <a:noFill/>
        </p:spPr>
        <p:txBody>
          <a:bodyPr wrap="none">
            <a:spAutoFit/>
          </a:bodyPr>
          <a:lstStyle/>
          <a:p>
            <a:pPr algn="l">
              <a:lnSpc>
                <a:spcPct val="115000"/>
              </a:lnSpc>
              <a:spcAft>
                <a:spcPts val="800"/>
              </a:spcAft>
            </a:pPr>
            <a:r>
              <a:rPr sz="1800">
                <a:solidFill>
                  <a:srgbClr val="0F172A"/>
                </a:solidFill>
                <a:latin typeface="Arial"/>
              </a:rPr>
              <a:t>Frontend / Experience: Streamlit</a:t>
            </a:r>
          </a:p>
          <a:p>
            <a:pPr algn="l">
              <a:lnSpc>
                <a:spcPct val="115000"/>
              </a:lnSpc>
              <a:spcAft>
                <a:spcPts val="800"/>
              </a:spcAft>
            </a:pPr>
            <a:r>
              <a:rPr sz="1800">
                <a:solidFill>
                  <a:srgbClr val="0F172A"/>
                </a:solidFill>
                <a:latin typeface="Arial"/>
              </a:rPr>
              <a:t>Agent Orchestration: LangGraph, LangChain</a:t>
            </a:r>
          </a:p>
          <a:p>
            <a:pPr algn="l">
              <a:lnSpc>
                <a:spcPct val="115000"/>
              </a:lnSpc>
              <a:spcAft>
                <a:spcPts val="800"/>
              </a:spcAft>
            </a:pPr>
            <a:r>
              <a:rPr sz="1800">
                <a:solidFill>
                  <a:srgbClr val="0F172A"/>
                </a:solidFill>
                <a:latin typeface="Arial"/>
              </a:rPr>
              <a:t>Tool Integration: MCP / Tool layer</a:t>
            </a:r>
          </a:p>
          <a:p>
            <a:pPr algn="l">
              <a:lnSpc>
                <a:spcPct val="115000"/>
              </a:lnSpc>
              <a:spcAft>
                <a:spcPts val="800"/>
              </a:spcAft>
            </a:pPr>
            <a:r>
              <a:rPr sz="1800">
                <a:solidFill>
                  <a:srgbClr val="0F172A"/>
                </a:solidFill>
                <a:latin typeface="Arial"/>
              </a:rPr>
              <a:t>AI Model Layer: Azure OpenAI</a:t>
            </a:r>
          </a:p>
          <a:p>
            <a:pPr algn="l">
              <a:lnSpc>
                <a:spcPct val="115000"/>
              </a:lnSpc>
              <a:spcAft>
                <a:spcPts val="800"/>
              </a:spcAft>
            </a:pPr>
            <a:r>
              <a:rPr sz="1800">
                <a:solidFill>
                  <a:srgbClr val="0F172A"/>
                </a:solidFill>
                <a:latin typeface="Arial"/>
              </a:rPr>
              <a:t>Application Runtime: Python</a:t>
            </a:r>
          </a:p>
          <a:p>
            <a:pPr algn="l">
              <a:lnSpc>
                <a:spcPct val="115000"/>
              </a:lnSpc>
              <a:spcAft>
                <a:spcPts val="800"/>
              </a:spcAft>
            </a:pPr>
            <a:r>
              <a:rPr sz="1800">
                <a:solidFill>
                  <a:srgbClr val="0F172A"/>
                </a:solidFill>
                <a:latin typeface="Arial"/>
              </a:rPr>
              <a:t>Database: SQLite</a:t>
            </a:r>
          </a:p>
          <a:p>
            <a:pPr algn="l">
              <a:lnSpc>
                <a:spcPct val="115000"/>
              </a:lnSpc>
              <a:spcAft>
                <a:spcPts val="800"/>
              </a:spcAft>
            </a:pPr>
            <a:r>
              <a:rPr sz="1800">
                <a:solidFill>
                  <a:srgbClr val="0F172A"/>
                </a:solidFill>
                <a:latin typeface="Arial"/>
              </a:rPr>
              <a:t>Email &amp; Notifications: SMTP / Email service</a:t>
            </a:r>
          </a:p>
        </p:txBody>
      </p:sp>
      <p:sp>
        <p:nvSpPr>
          <p:cNvPr id="5" name="TextBox 4"/>
          <p:cNvSpPr txBox="1"/>
          <p:nvPr/>
        </p:nvSpPr>
        <p:spPr>
          <a:xfrm>
            <a:off x="6309360" y="1463040"/>
            <a:ext cx="5120640" cy="3840480"/>
          </a:xfrm>
          <a:prstGeom prst="rect">
            <a:avLst/>
          </a:prstGeom>
          <a:noFill/>
        </p:spPr>
        <p:txBody>
          <a:bodyPr wrap="none">
            <a:spAutoFit/>
          </a:bodyPr>
          <a:lstStyle/>
          <a:p>
            <a:pPr algn="l">
              <a:lnSpc>
                <a:spcPct val="115000"/>
              </a:lnSpc>
              <a:spcAft>
                <a:spcPts val="800"/>
              </a:spcAft>
            </a:pPr>
            <a:r>
              <a:rPr sz="1800">
                <a:solidFill>
                  <a:srgbClr val="0F172A"/>
                </a:solidFill>
                <a:latin typeface="Arial"/>
              </a:rPr>
              <a:t>Containerization: Docker</a:t>
            </a:r>
          </a:p>
          <a:p>
            <a:pPr algn="l">
              <a:lnSpc>
                <a:spcPct val="115000"/>
              </a:lnSpc>
              <a:spcAft>
                <a:spcPts val="800"/>
              </a:spcAft>
            </a:pPr>
            <a:r>
              <a:rPr sz="1800">
                <a:solidFill>
                  <a:srgbClr val="0F172A"/>
                </a:solidFill>
                <a:latin typeface="Arial"/>
              </a:rPr>
              <a:t>Cloud Platform: Microsoft Azure</a:t>
            </a:r>
          </a:p>
          <a:p>
            <a:pPr algn="l">
              <a:lnSpc>
                <a:spcPct val="115000"/>
              </a:lnSpc>
              <a:spcAft>
                <a:spcPts val="800"/>
              </a:spcAft>
            </a:pPr>
            <a:r>
              <a:rPr sz="1800">
                <a:solidFill>
                  <a:srgbClr val="0F172A"/>
                </a:solidFill>
                <a:latin typeface="Arial"/>
              </a:rPr>
              <a:t>Azure Services: App Service, Container Apps, Container Registry</a:t>
            </a:r>
          </a:p>
          <a:p>
            <a:pPr algn="l">
              <a:lnSpc>
                <a:spcPct val="115000"/>
              </a:lnSpc>
              <a:spcAft>
                <a:spcPts val="800"/>
              </a:spcAft>
            </a:pPr>
            <a:r>
              <a:rPr sz="1800">
                <a:solidFill>
                  <a:srgbClr val="0F172A"/>
                </a:solidFill>
                <a:latin typeface="Arial"/>
              </a:rPr>
              <a:t>Deployment Automation: GitHub Actions</a:t>
            </a:r>
          </a:p>
          <a:p>
            <a:pPr algn="l">
              <a:lnSpc>
                <a:spcPct val="115000"/>
              </a:lnSpc>
              <a:spcAft>
                <a:spcPts val="800"/>
              </a:spcAft>
            </a:pPr>
            <a:r>
              <a:rPr sz="1800">
                <a:solidFill>
                  <a:srgbClr val="0F172A"/>
                </a:solidFill>
                <a:latin typeface="Arial"/>
              </a:rPr>
              <a:t>Source Control: GitHub</a:t>
            </a:r>
          </a:p>
          <a:p>
            <a:pPr algn="l">
              <a:lnSpc>
                <a:spcPct val="115000"/>
              </a:lnSpc>
              <a:spcAft>
                <a:spcPts val="800"/>
              </a:spcAft>
            </a:pPr>
            <a:r>
              <a:rPr sz="1800">
                <a:solidFill>
                  <a:srgbClr val="0F172A"/>
                </a:solidFill>
                <a:latin typeface="Arial"/>
              </a:rPr>
              <a:t>Production Pattern: CI/CD + environment secrets</a:t>
            </a:r>
          </a:p>
        </p:txBody>
      </p:sp>
      <p:sp>
        <p:nvSpPr>
          <p:cNvPr id="6" name="TextBox 5"/>
          <p:cNvSpPr txBox="1"/>
          <p:nvPr/>
        </p:nvSpPr>
        <p:spPr>
          <a:xfrm>
            <a:off x="164592"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8229600" cy="640080"/>
          </a:xfrm>
          <a:prstGeom prst="rect">
            <a:avLst/>
          </a:prstGeom>
          <a:noFill/>
        </p:spPr>
        <p:txBody>
          <a:bodyPr wrap="none">
            <a:spAutoFit/>
          </a:bodyPr>
          <a:lstStyle/>
          <a:p>
            <a:pPr algn="l"/>
            <a:r>
              <a:rPr sz="2400" b="1">
                <a:solidFill>
                  <a:srgbClr val="0F172A"/>
                </a:solidFill>
                <a:latin typeface="Arial"/>
              </a:rPr>
              <a:t>Containerization and CI/CD</a:t>
            </a:r>
          </a:p>
        </p:txBody>
      </p:sp>
      <p:sp>
        <p:nvSpPr>
          <p:cNvPr id="3" name="Rectangle 2"/>
          <p:cNvSpPr/>
          <p:nvPr/>
        </p:nvSpPr>
        <p:spPr>
          <a:xfrm>
            <a:off x="548640" y="868680"/>
            <a:ext cx="182880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4206240"/>
          </a:xfrm>
          <a:prstGeom prst="rect">
            <a:avLst/>
          </a:prstGeom>
          <a:noFill/>
        </p:spPr>
        <p:txBody>
          <a:bodyPr wrap="square">
            <a:spAutoFit/>
          </a:bodyPr>
          <a:lstStyle/>
          <a:p>
            <a:pPr algn="just">
              <a:lnSpc>
                <a:spcPct val="115000"/>
              </a:lnSpc>
              <a:spcAft>
                <a:spcPts val="600"/>
              </a:spcAft>
            </a:pPr>
            <a:r>
              <a:rPr sz="1900">
                <a:solidFill>
                  <a:srgbClr val="0F172A"/>
                </a:solidFill>
                <a:latin typeface="Arial"/>
              </a:rPr>
              <a:t>Source code is managed in GitHub and built into a reproducible Docker image. The pipeline automates image creation, pushes it to the registry, and deploys the application to Azure. This enables consistent, repeatable delivery and production deployment without manual configuration inside the source code.</a:t>
            </a:r>
          </a:p>
          <a:p>
            <a:pPr algn="just">
              <a:lnSpc>
                <a:spcPct val="115000"/>
              </a:lnSpc>
              <a:spcAft>
                <a:spcPts val="600"/>
              </a:spcAft>
            </a:pPr>
            <a:r>
              <a:rPr sz="1900">
                <a:solidFill>
                  <a:srgbClr val="0F172A"/>
                </a:solidFill>
                <a:latin typeface="Arial"/>
              </a:rPr>
              <a:t>The deployment workflow integrates Azure App Service and container-based runtime services while keeping environment-specific values such as API keys, SMTP configuration, and the admin password in secure GitHub and Azure settings.</a:t>
            </a:r>
          </a:p>
        </p:txBody>
      </p:sp>
      <p:sp>
        <p:nvSpPr>
          <p:cNvPr id="5" name="TextBox 4"/>
          <p:cNvSpPr txBox="1"/>
          <p:nvPr/>
        </p:nvSpPr>
        <p:spPr>
          <a:xfrm>
            <a:off x="164592"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28600"/>
            <a:ext cx="8229600" cy="640080"/>
          </a:xfrm>
          <a:prstGeom prst="rect">
            <a:avLst/>
          </a:prstGeom>
          <a:noFill/>
        </p:spPr>
        <p:txBody>
          <a:bodyPr wrap="none">
            <a:spAutoFit/>
          </a:bodyPr>
          <a:lstStyle/>
          <a:p>
            <a:pPr algn="l"/>
            <a:r>
              <a:rPr sz="2400" b="1">
                <a:solidFill>
                  <a:srgbClr val="0F172A"/>
                </a:solidFill>
                <a:latin typeface="Arial"/>
              </a:rPr>
              <a:t>Conclusion</a:t>
            </a:r>
          </a:p>
        </p:txBody>
      </p:sp>
      <p:sp>
        <p:nvSpPr>
          <p:cNvPr id="3" name="Rectangle 2"/>
          <p:cNvSpPr/>
          <p:nvPr/>
        </p:nvSpPr>
        <p:spPr>
          <a:xfrm>
            <a:off x="548640" y="868680"/>
            <a:ext cx="1828800"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54480"/>
            <a:ext cx="10698480" cy="4023360"/>
          </a:xfrm>
          <a:prstGeom prst="rect">
            <a:avLst/>
          </a:prstGeom>
          <a:noFill/>
        </p:spPr>
        <p:txBody>
          <a:bodyPr wrap="square">
            <a:spAutoFit/>
          </a:bodyPr>
          <a:lstStyle/>
          <a:p>
            <a:pPr algn="just">
              <a:lnSpc>
                <a:spcPct val="115000"/>
              </a:lnSpc>
              <a:spcAft>
                <a:spcPts val="600"/>
              </a:spcAft>
            </a:pPr>
            <a:r>
              <a:rPr sz="2000">
                <a:solidFill>
                  <a:srgbClr val="0F172A"/>
                </a:solidFill>
                <a:latin typeface="Arial"/>
              </a:rPr>
              <a:t>The IT Support Assistant delivers an agentic AI-powered support experience combining secure access, action execution, knowledge assistance, ticket handling, employee lifecycle management, VPN operations, and Azure deployment.</a:t>
            </a:r>
          </a:p>
          <a:p>
            <a:pPr algn="just">
              <a:lnSpc>
                <a:spcPct val="115000"/>
              </a:lnSpc>
              <a:spcAft>
                <a:spcPts val="600"/>
              </a:spcAft>
            </a:pPr>
            <a:r>
              <a:rPr sz="2000">
                <a:solidFill>
                  <a:srgbClr val="0F172A"/>
                </a:solidFill>
                <a:latin typeface="Arial"/>
              </a:rPr>
              <a:t>It provides an enterprise-ready, scalable foundation for intelligent IT operations, with strong governance, secure workflow execution, and practical business value.</a:t>
            </a:r>
          </a:p>
        </p:txBody>
      </p:sp>
      <p:sp>
        <p:nvSpPr>
          <p:cNvPr id="5" name="TextBox 4"/>
          <p:cNvSpPr txBox="1"/>
          <p:nvPr/>
        </p:nvSpPr>
        <p:spPr>
          <a:xfrm>
            <a:off x="164592" y="6473952"/>
            <a:ext cx="11795760" cy="256032"/>
          </a:xfrm>
          <a:prstGeom prst="rect">
            <a:avLst/>
          </a:prstGeom>
          <a:noFill/>
        </p:spPr>
        <p:txBody>
          <a:bodyPr wrap="none">
            <a:spAutoFit/>
          </a:bodyPr>
          <a:lstStyle/>
          <a:p>
            <a:pPr algn="ctr"/>
            <a:r>
              <a:rPr sz="900" b="1">
                <a:solidFill>
                  <a:srgbClr val="475569"/>
                </a:solidFill>
                <a:latin typeface="Arial"/>
              </a:rPr>
              <a:t>Owner: Ajay Kumar | Email: helloajay21@gmail.com | Batch 1 | Project: AI Operations Assistant Using Agentic AI | GitHub: https://github.com/helloajay21-max/-it-support-assistant | Azure: https://it-support-ajay-001.azurewebsites.net/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